
<file path=[Content_Types].xml><?xml version="1.0" encoding="utf-8"?>
<ns0:Types xmlns:ns0="http://schemas.openxmlformats.org/package/2006/content-types">
  <ns0:Default Extension="bin" ContentType="application/vnd.openxmlformats-officedocument.presentationml.printerSettings"/>
  <ns0:Default Extension="jpeg" ContentType="image/jpeg"/>
  <ns0:Default Extension="png" ContentType="image/png"/>
  <ns0:Default Extension="rels" ContentType="application/vnd.openxmlformats-package.relationships+xml"/>
  <ns0:Default Extension="xml" ContentType="application/xml"/>
  <ns0:Override PartName="/docProps/app.xml" ContentType="application/vnd.openxmlformats-officedocument.extended-properties+xml"/>
  <ns0:Override PartName="/docProps/core.xml" ContentType="application/vnd.openxmlformats-package.core-properties+xml"/>
  <ns0:Override PartName="/ppt/presProps.xml" ContentType="application/vnd.openxmlformats-officedocument.presentationml.presProps+xml"/>
  <ns0:Override PartName="/ppt/presentation.xml" ContentType="application/vnd.openxmlformats-officedocument.presentationml.presentation.main+xml"/>
  <ns0:Override PartName="/ppt/slideLayouts/slideLayout1.xml" ContentType="application/vnd.openxmlformats-officedocument.presentationml.slideLayout+xml"/>
  <ns0:Override PartName="/ppt/slideLayouts/slideLayout10.xml" ContentType="application/vnd.openxmlformats-officedocument.presentationml.slideLayout+xml"/>
  <ns0:Override PartName="/ppt/slideLayouts/slideLayout11.xml" ContentType="application/vnd.openxmlformats-officedocument.presentationml.slideLayout+xml"/>
  <ns0:Override PartName="/ppt/slideLayouts/slideLayout2.xml" ContentType="application/vnd.openxmlformats-officedocument.presentationml.slideLayout+xml"/>
  <ns0:Override PartName="/ppt/slideLayouts/slideLayout3.xml" ContentType="application/vnd.openxmlformats-officedocument.presentationml.slideLayout+xml"/>
  <ns0:Override PartName="/ppt/slideLayouts/slideLayout4.xml" ContentType="application/vnd.openxmlformats-officedocument.presentationml.slideLayout+xml"/>
  <ns0:Override PartName="/ppt/slideLayouts/slideLayout5.xml" ContentType="application/vnd.openxmlformats-officedocument.presentationml.slideLayout+xml"/>
  <ns0:Override PartName="/ppt/slideLayouts/slideLayout6.xml" ContentType="application/vnd.openxmlformats-officedocument.presentationml.slideLayout+xml"/>
  <ns0:Override PartName="/ppt/slideLayouts/slideLayout7.xml" ContentType="application/vnd.openxmlformats-officedocument.presentationml.slideLayout+xml"/>
  <ns0:Override PartName="/ppt/slideLayouts/slideLayout8.xml" ContentType="application/vnd.openxmlformats-officedocument.presentationml.slideLayout+xml"/>
  <ns0:Override PartName="/ppt/slideLayouts/slideLayout9.xml" ContentType="application/vnd.openxmlformats-officedocument.presentationml.slideLayout+xml"/>
  <ns0:Override PartName="/ppt/slideMasters/slideMaster1.xml" ContentType="application/vnd.openxmlformats-officedocument.presentationml.slideMaster+xml"/>
  <ns0:Override PartName="/ppt/slides/slide1.xml" ContentType="application/vnd.openxmlformats-officedocument.presentationml.slide+xml"/>
  <ns0:Override PartName="/ppt/slides/slide10.xml" ContentType="application/vnd.openxmlformats-officedocument.presentationml.slide+xml"/>
  <ns0:Override PartName="/ppt/slides/slide11.xml" ContentType="application/vnd.openxmlformats-officedocument.presentationml.slide+xml"/>
  <ns0:Override PartName="/ppt/slides/slide12.xml" ContentType="application/vnd.openxmlformats-officedocument.presentationml.slide+xml"/>
  <ns0:Override PartName="/ppt/slides/slide13.xml" ContentType="application/vnd.openxmlformats-officedocument.presentationml.slide+xml"/>
  <ns0:Override PartName="/ppt/slides/slide2.xml" ContentType="application/vnd.openxmlformats-officedocument.presentationml.slide+xml"/>
  <ns0:Override PartName="/ppt/slides/slide3.xml" ContentType="application/vnd.openxmlformats-officedocument.presentationml.slide+xml"/>
  <ns0:Override PartName="/ppt/slides/slide4.xml" ContentType="application/vnd.openxmlformats-officedocument.presentationml.slide+xml"/>
  <ns0:Override PartName="/ppt/slides/slide5.xml" ContentType="application/vnd.openxmlformats-officedocument.presentationml.slide+xml"/>
  <ns0:Override PartName="/ppt/slides/slide6.xml" ContentType="application/vnd.openxmlformats-officedocument.presentationml.slide+xml"/>
  <ns0:Override PartName="/ppt/slides/slide7.xml" ContentType="application/vnd.openxmlformats-officedocument.presentationml.slide+xml"/>
  <ns0:Override PartName="/ppt/slides/slide8.xml" ContentType="application/vnd.openxmlformats-officedocument.presentationml.slide+xml"/>
  <ns0:Override PartName="/ppt/slides/slide9.xml" ContentType="application/vnd.openxmlformats-officedocument.presentationml.slide+xml"/>
  <ns0:Override PartName="/ppt/tableStyles.xml" ContentType="application/vnd.openxmlformats-officedocument.presentationml.tableStyles+xml"/>
  <ns0:Override PartName="/ppt/theme/theme1.xml" ContentType="application/vnd.openxmlformats-officedocument.theme+xml"/>
  <ns0:Override PartName="/ppt/viewProps.xml" ContentType="application/vnd.openxmlformats-officedocument.presentationml.viewProps+xml"/>
  <ns0:Default Extension="fntdata" ContentType="application/x-fontdata"/>
</ns0: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ns0:presentation xmlns:ns0="http://schemas.openxmlformats.org/presentationml/2006/main" xmlns:ns1="http://schemas.openxmlformats.org/officeDocument/2006/relationships" xmlns:ns2="http://schemas.openxmlformats.org/drawingml/2006/main" saveSubsetFonts="1" autoCompressPictures="0" embedTrueTypeFonts="1">
  <ns0:sldMasterIdLst>
    <ns0:sldMasterId id="2147483648" ns1:id="rId1"/>
  </ns0:sldMasterIdLst>
  <ns0:sldIdLst>
    <ns0:sldId id="256" ns1:id="rId7"/>
    <ns0:sldId id="257" ns1:id="rId8"/>
    <ns0:sldId id="258" ns1:id="rId9"/>
    <ns0:sldId id="259" ns1:id="rId10"/>
    <ns0:sldId id="260" ns1:id="rId11"/>
    <ns0:sldId id="261" ns1:id="rId12"/>
    <ns0:sldId id="262" ns1:id="rId13"/>
    <ns0:sldId id="263" ns1:id="rId14"/>
    <ns0:sldId id="264" ns1:id="rId15"/>
    <ns0:sldId id="265" ns1:id="rId16"/>
    <ns0:sldId id="266" ns1:id="rId17"/>
    <ns0:sldId id="267" ns1:id="rId18"/>
    <ns0:sldId id="268" ns1:id="rId19"/>
  </ns0:sldIdLst>
  <ns0:sldSz cx="12192000" cy="6858000" type="screen4x3"/>
  <ns0:notesSz cx="6858000" cy="9144000"/>
  <ns0:embeddedFontLst>
    <ns0:embeddedFont>
      <ns0:font typeface="Inter"/>
      <ns0:bold ns1:id="rIdFont20"/>
      <ns0:regular ns1:id="rIdFont21"/>
    </ns0:embeddedFont>
    <ns0:embeddedFont>
      <ns0:font typeface="Plus Jakarta Sans"/>
      <ns0:bold ns1:id="rIdFont22"/>
    </ns0:embeddedFont>
  </ns0:embeddedFontLst>
  <ns0:defaultTextStyle>
    <ns2:defPPr>
      <ns2:defRPr lang="en-US"/>
    </ns2:defPPr>
    <ns2:lvl1pPr marL="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1pPr>
    <ns2:lvl2pPr marL="4572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2pPr>
    <ns2:lvl3pPr marL="9144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3pPr>
    <ns2:lvl4pPr marL="13716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4pPr>
    <ns2:lvl5pPr marL="18288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5pPr>
    <ns2:lvl6pPr marL="22860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6pPr>
    <ns2:lvl7pPr marL="27432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7pPr>
    <ns2:lvl8pPr marL="32004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8pPr>
    <ns2:lvl9pPr marL="36576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9pPr>
  </ns0:defaultTextStyle>
</ns0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?>
<ns0:Relationships xmlns:ns0="http://schemas.openxmlformats.org/package/2006/relationships"><ns0:Relationship Id="rId1" Type="http://schemas.openxmlformats.org/officeDocument/2006/relationships/slideMaster" Target="slideMasters/slideMaster1.xml" /><ns0:Relationship Id="rId2" Type="http://schemas.openxmlformats.org/officeDocument/2006/relationships/printerSettings" Target="printerSettings/printerSettings1.bin" /><ns0:Relationship Id="rId3" Type="http://schemas.openxmlformats.org/officeDocument/2006/relationships/presProps" Target="presProps.xml" /><ns0:Relationship Id="rId4" Type="http://schemas.openxmlformats.org/officeDocument/2006/relationships/viewProps" Target="viewProps.xml" /><ns0:Relationship Id="rId5" Type="http://schemas.openxmlformats.org/officeDocument/2006/relationships/theme" Target="theme/theme1.xml" /><ns0:Relationship Id="rId6" Type="http://schemas.openxmlformats.org/officeDocument/2006/relationships/tableStyles" Target="tableStyles.xml" /><ns0:Relationship Id="rId7" Type="http://schemas.openxmlformats.org/officeDocument/2006/relationships/slide" Target="slides/slide1.xml" /><ns0:Relationship Id="rId8" Type="http://schemas.openxmlformats.org/officeDocument/2006/relationships/slide" Target="slides/slide2.xml" /><ns0:Relationship Id="rId9" Type="http://schemas.openxmlformats.org/officeDocument/2006/relationships/slide" Target="slides/slide3.xml" /><ns0:Relationship Id="rId10" Type="http://schemas.openxmlformats.org/officeDocument/2006/relationships/slide" Target="slides/slide4.xml" /><ns0:Relationship Id="rId11" Type="http://schemas.openxmlformats.org/officeDocument/2006/relationships/slide" Target="slides/slide5.xml" /><ns0:Relationship Id="rId12" Type="http://schemas.openxmlformats.org/officeDocument/2006/relationships/slide" Target="slides/slide6.xml" /><ns0:Relationship Id="rId13" Type="http://schemas.openxmlformats.org/officeDocument/2006/relationships/slide" Target="slides/slide7.xml" /><ns0:Relationship Id="rId14" Type="http://schemas.openxmlformats.org/officeDocument/2006/relationships/slide" Target="slides/slide8.xml" /><ns0:Relationship Id="rId15" Type="http://schemas.openxmlformats.org/officeDocument/2006/relationships/slide" Target="slides/slide9.xml" /><ns0:Relationship Id="rId16" Type="http://schemas.openxmlformats.org/officeDocument/2006/relationships/slide" Target="slides/slide10.xml" /><ns0:Relationship Id="rId17" Type="http://schemas.openxmlformats.org/officeDocument/2006/relationships/slide" Target="slides/slide11.xml" /><ns0:Relationship Id="rId18" Type="http://schemas.openxmlformats.org/officeDocument/2006/relationships/slide" Target="slides/slide12.xml" /><ns0:Relationship Id="rId19" Type="http://schemas.openxmlformats.org/officeDocument/2006/relationships/slide" Target="slides/slide13.xml" /><ns0:Relationship Id="rIdFont20" Type="http://schemas.openxmlformats.org/officeDocument/2006/relationships/font" Target="fonts/823e0f14-38b5-4f49-ae2e-830bc56a9347.fntdata" /><ns0:Relationship Id="rIdFont21" Type="http://schemas.openxmlformats.org/officeDocument/2006/relationships/font" Target="fonts/87f0b849-c335-4eb6-b8a4-ab3886faa214.fntdata" /><ns0:Relationship Id="rIdFont22" Type="http://schemas.openxmlformats.org/officeDocument/2006/relationships/font" Target="fonts/b5c40878-917a-45db-9292-77cb28f3e8ad.fntdata" /></ns0: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6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1578322"/>
            <a:ext cx="2952750" cy="285750"/>
          </a:xfrm>
          <a:prstGeom prst="roundRect">
            <a:avLst>
              <a:gd name="adj" fmla="val 50000"/>
            </a:avLst>
          </a:prstGeom>
          <a:solidFill>
            <a:srgbClr val="0F2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09600" y="4660552"/>
            <a:ext cx="2305050" cy="619125"/>
          </a:xfrm>
          <a:prstGeom prst="roundRect">
            <a:avLst>
              <a:gd name="adj" fmla="val 12307"/>
            </a:avLst>
          </a:prstGeom>
          <a:solidFill>
            <a:srgbClr val="1E293B"/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067050" y="4660552"/>
            <a:ext cx="2428875" cy="619125"/>
          </a:xfrm>
          <a:prstGeom prst="roundRect">
            <a:avLst>
              <a:gd name="adj" fmla="val 12307"/>
            </a:avLst>
          </a:prstGeom>
          <a:solidFill>
            <a:srgbClr val="1E293B"/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648325" y="4660552"/>
            <a:ext cx="2514600" cy="619125"/>
          </a:xfrm>
          <a:prstGeom prst="roundRect">
            <a:avLst>
              <a:gd name="adj" fmla="val 12307"/>
            </a:avLst>
          </a:prstGeom>
          <a:solidFill>
            <a:srgbClr val="1E293B"/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8675" y="4865340"/>
            <a:ext cx="180975" cy="20955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86125" y="4865340"/>
            <a:ext cx="180975" cy="20955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67400" y="4865340"/>
            <a:ext cx="209550" cy="20955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09600" y="2092672"/>
            <a:ext cx="9301162" cy="113913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4484"/>
              </a:lnSpc>
            </a:pPr>
            <a:r>
              <a:rPr b="1" sz="3900" i="0" u="none">
                <a:solidFill>
                  <a:srgbClr val="F8FAFC"/>
                </a:solidFill>
                <a:latin typeface="Plus Jakarta Sans"/>
              </a:rPr>
              <a:t>Stock Portfolio Performance Analysis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9600" y="3422302"/>
            <a:ext cx="7715250" cy="857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b="0" sz="1500" i="0" u="none">
                <a:solidFill>
                  <a:srgbClr val="94A3B8"/>
                </a:solidFill>
                <a:latin typeface="Inter"/>
              </a:rPr>
              <a:t>A 5-day collaborative sprint roadmap where 3 team members work in parallel every single day across Python Data Engineering, SQL Database Architecture, and Power BI Analytics.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2000" y="1635472"/>
            <a:ext cx="274320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10B981"/>
                </a:solidFill>
                <a:latin typeface="Plus Jakarta Sans"/>
              </a:rPr>
              <a:t>FINANCE DATA ANALYST PORTFOLIO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76650" y="1640234"/>
            <a:ext cx="4226718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64748B"/>
                </a:solidFill>
                <a:latin typeface="Inter"/>
              </a:rPr>
              <a:t>5-DAY SPRINT • DAILY 3-PERSON COLLABORATION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23950" y="4803427"/>
            <a:ext cx="1964531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F1F5F9"/>
                </a:solidFill>
                <a:latin typeface="Inter"/>
              </a:rPr>
              <a:t>Person 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23950" y="4984402"/>
            <a:ext cx="1964531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94A3B8"/>
                </a:solidFill>
                <a:latin typeface="Inter"/>
              </a:rPr>
              <a:t>Python &amp; Data Engineering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81400" y="4803427"/>
            <a:ext cx="2119312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F1F5F9"/>
                </a:solidFill>
                <a:latin typeface="Inter"/>
              </a:rPr>
              <a:t>Person 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81400" y="4984402"/>
            <a:ext cx="2119312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94A3B8"/>
                </a:solidFill>
                <a:latin typeface="Inter"/>
              </a:rPr>
              <a:t>SQL &amp; Database Architecture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91250" y="4803427"/>
            <a:ext cx="2190750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F1F5F9"/>
                </a:solidFill>
                <a:latin typeface="Inter"/>
              </a:rPr>
              <a:t>Person 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91250" y="4984402"/>
            <a:ext cx="2190750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94A3B8"/>
                </a:solidFill>
                <a:latin typeface="Inter"/>
              </a:rPr>
              <a:t>Power BI &amp; Business Strategy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8734425" y="800100"/>
            <a:ext cx="2847975" cy="285750"/>
          </a:xfrm>
          <a:prstGeom prst="roundRect">
            <a:avLst>
              <a:gd name="adj" fmla="val 50000"/>
            </a:avLst>
          </a:prstGeom>
          <a:solidFill>
            <a:srgbClr val="F1F5F9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09748" y="2819400"/>
            <a:ext cx="2072580" cy="2114550"/>
          </a:xfrm>
          <a:prstGeom prst="roundRect">
            <a:avLst>
              <a:gd name="adj" fmla="val 5514"/>
            </a:avLst>
          </a:prstGeom>
          <a:solidFill>
            <a:srgbClr val="F8FAFC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2834729" y="2819400"/>
            <a:ext cx="2072580" cy="2114550"/>
          </a:xfrm>
          <a:prstGeom prst="roundRect">
            <a:avLst>
              <a:gd name="adj" fmla="val 5514"/>
            </a:avLst>
          </a:prstGeom>
          <a:solidFill>
            <a:srgbClr val="F8FAFC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59709" y="2819400"/>
            <a:ext cx="2072580" cy="2114550"/>
          </a:xfrm>
          <a:prstGeom prst="roundRect">
            <a:avLst>
              <a:gd name="adj" fmla="val 5514"/>
            </a:avLst>
          </a:prstGeom>
          <a:solidFill>
            <a:srgbClr val="F8FAFC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284690" y="2819400"/>
            <a:ext cx="2072580" cy="2114550"/>
          </a:xfrm>
          <a:prstGeom prst="roundRect">
            <a:avLst>
              <a:gd name="adj" fmla="val 5514"/>
            </a:avLst>
          </a:prstGeom>
          <a:solidFill>
            <a:srgbClr val="F8FAFC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9509670" y="2819400"/>
            <a:ext cx="2072580" cy="2114550"/>
          </a:xfrm>
          <a:prstGeom prst="roundRect">
            <a:avLst>
              <a:gd name="adj" fmla="val 5514"/>
            </a:avLst>
          </a:prstGeom>
          <a:solidFill>
            <a:srgbClr val="F8FAFC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09773" y="3019425"/>
            <a:ext cx="514350" cy="219075"/>
          </a:xfrm>
          <a:prstGeom prst="roundRect">
            <a:avLst>
              <a:gd name="adj" fmla="val 50000"/>
            </a:avLst>
          </a:prstGeom>
          <a:solidFill>
            <a:srgbClr val="DB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3034754" y="3019425"/>
            <a:ext cx="533400" cy="219075"/>
          </a:xfrm>
          <a:prstGeom prst="roundRect">
            <a:avLst>
              <a:gd name="adj" fmla="val 50000"/>
            </a:avLst>
          </a:prstGeom>
          <a:solidFill>
            <a:srgbClr val="FEF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259734" y="3019425"/>
            <a:ext cx="542925" cy="219075"/>
          </a:xfrm>
          <a:prstGeom prst="roundRect">
            <a:avLst>
              <a:gd name="adj" fmla="val 50000"/>
            </a:avLst>
          </a:prstGeom>
          <a:solidFill>
            <a:srgbClr val="D1FA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7484715" y="3019425"/>
            <a:ext cx="542925" cy="219075"/>
          </a:xfrm>
          <a:prstGeom prst="roundRect">
            <a:avLst>
              <a:gd name="adj" fmla="val 50000"/>
            </a:avLst>
          </a:prstGeom>
          <a:solidFill>
            <a:srgbClr val="E0E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9709695" y="3019425"/>
            <a:ext cx="533400" cy="219075"/>
          </a:xfrm>
          <a:prstGeom prst="roundRect">
            <a:avLst>
              <a:gd name="adj" fmla="val 50000"/>
            </a:avLst>
          </a:prstGeom>
          <a:solidFill>
            <a:srgbClr val="F3E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867775" y="857250"/>
            <a:ext cx="2676525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475569"/>
                </a:solidFill>
                <a:latin typeface="Inter"/>
              </a:rPr>
              <a:t>⏱️ Total: ~18 Hours / Person (~3.5 hrs/day)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9600" y="457200"/>
            <a:ext cx="10072687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2563EB"/>
                </a:solidFill>
                <a:latin typeface="Plus Jakarta Sans"/>
              </a:rPr>
              <a:t>PARALLEL TEAM EXECUTION FRAMEWORK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9600" y="704850"/>
            <a:ext cx="10576321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Plus Jakarta Sans"/>
              </a:rPr>
              <a:t>5-Day Master Roadmap (3 Parallel Workstreams Daily)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9773" y="3333750"/>
            <a:ext cx="2195196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0F172A"/>
                </a:solidFill>
                <a:latin typeface="Plus Jakarta Sans"/>
              </a:rPr>
              <a:t>Scoping &amp; Extraction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9773" y="3629025"/>
            <a:ext cx="176778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0284C7"/>
                </a:solidFill>
                <a:latin typeface="Inter"/>
              </a:rPr>
              <a:t>P1 (3.5h):</a:t>
            </a:r>
            <a:r>
              <a:rPr b="0" sz="975" i="0" u="none">
                <a:solidFill>
                  <a:srgbClr val="334155"/>
                </a:solidFill>
                <a:latin typeface="Inter"/>
              </a:rPr>
              <a:t> yfinance API pipeline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9773" y="4029075"/>
            <a:ext cx="176778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059669"/>
                </a:solidFill>
                <a:latin typeface="Inter"/>
              </a:rPr>
              <a:t>P2 (3.0h):</a:t>
            </a:r>
            <a:r>
              <a:rPr b="0" sz="975" i="0" u="none">
                <a:solidFill>
                  <a:srgbClr val="334155"/>
                </a:solidFill>
                <a:latin typeface="Inter"/>
              </a:rPr>
              <a:t> Database schema design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9773" y="4429125"/>
            <a:ext cx="176778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D97706"/>
                </a:solidFill>
                <a:latin typeface="Inter"/>
              </a:rPr>
              <a:t>P3 (2.5h):</a:t>
            </a:r>
            <a:r>
              <a:rPr b="0" sz="975" i="0" u="none">
                <a:solidFill>
                  <a:srgbClr val="334155"/>
                </a:solidFill>
                <a:latin typeface="Inter"/>
              </a:rPr>
              <a:t> KPI wireframe &amp; targets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034754" y="3333750"/>
            <a:ext cx="2195196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0F172A"/>
                </a:solidFill>
                <a:latin typeface="Plus Jakarta Sans"/>
              </a:rPr>
              <a:t>Cleaning &amp; Staging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034754" y="3629025"/>
            <a:ext cx="176778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0284C7"/>
                </a:solidFill>
                <a:latin typeface="Inter"/>
              </a:rPr>
              <a:t>P1 (4.0h):</a:t>
            </a:r>
            <a:r>
              <a:rPr b="0" sz="975" i="0" u="none">
                <a:solidFill>
                  <a:srgbClr val="334155"/>
                </a:solidFill>
                <a:latin typeface="Inter"/>
              </a:rPr>
              <a:t> Missing value imputation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034754" y="4029075"/>
            <a:ext cx="176778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059669"/>
                </a:solidFill>
                <a:latin typeface="Inter"/>
              </a:rPr>
              <a:t>P2 (3.5h):</a:t>
            </a:r>
            <a:r>
              <a:rPr b="0" sz="975" i="0" u="none">
                <a:solidFill>
                  <a:srgbClr val="334155"/>
                </a:solidFill>
                <a:latin typeface="Inter"/>
              </a:rPr>
              <a:t> SQL staging tables &amp; DDL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034754" y="4429125"/>
            <a:ext cx="176778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D97706"/>
                </a:solidFill>
                <a:latin typeface="Inter"/>
              </a:rPr>
              <a:t>P3 (3.5h):</a:t>
            </a:r>
            <a:r>
              <a:rPr b="0" sz="975" i="0" u="none">
                <a:solidFill>
                  <a:srgbClr val="334155"/>
                </a:solidFill>
                <a:latin typeface="Inter"/>
              </a:rPr>
              <a:t> Power BI data modeling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259734" y="3333750"/>
            <a:ext cx="2195196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0F172A"/>
                </a:solidFill>
                <a:latin typeface="Plus Jakarta Sans"/>
              </a:rPr>
              <a:t>Metrics &amp; Modeling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59734" y="3629025"/>
            <a:ext cx="176778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0284C7"/>
                </a:solidFill>
                <a:latin typeface="Inter"/>
              </a:rPr>
              <a:t>P1 (4.5h):</a:t>
            </a:r>
            <a:r>
              <a:rPr b="0" sz="975" i="0" u="none">
                <a:solidFill>
                  <a:srgbClr val="334155"/>
                </a:solidFill>
                <a:latin typeface="Inter"/>
              </a:rPr>
              <a:t> Volatility &amp; Sharpe formulas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259734" y="4029075"/>
            <a:ext cx="176778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059669"/>
                </a:solidFill>
                <a:latin typeface="Inter"/>
              </a:rPr>
              <a:t>P2 (4.0h):</a:t>
            </a:r>
            <a:r>
              <a:rPr b="0" sz="975" i="0" u="none">
                <a:solidFill>
                  <a:srgbClr val="334155"/>
                </a:solidFill>
                <a:latin typeface="Inter"/>
              </a:rPr>
              <a:t> SQL window functions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259734" y="4429125"/>
            <a:ext cx="176778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D97706"/>
                </a:solidFill>
                <a:latin typeface="Inter"/>
              </a:rPr>
              <a:t>P3 (4.0h):</a:t>
            </a:r>
            <a:r>
              <a:rPr b="0" sz="975" i="0" u="none">
                <a:solidFill>
                  <a:srgbClr val="334155"/>
                </a:solidFill>
                <a:latin typeface="Inter"/>
              </a:rPr>
              <a:t> DAX portfolio measures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84715" y="3333750"/>
            <a:ext cx="2195196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0F172A"/>
                </a:solidFill>
                <a:latin typeface="Plus Jakarta Sans"/>
              </a:rPr>
              <a:t>Analytics &amp; Dashboard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84715" y="3629025"/>
            <a:ext cx="176778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0284C7"/>
                </a:solidFill>
                <a:latin typeface="Inter"/>
              </a:rPr>
              <a:t>P1 (3.5h):</a:t>
            </a:r>
            <a:r>
              <a:rPr b="0" sz="975" i="0" u="none">
                <a:solidFill>
                  <a:srgbClr val="334155"/>
                </a:solidFill>
                <a:latin typeface="Inter"/>
              </a:rPr>
              <a:t> Benchmark comparison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484715" y="4029075"/>
            <a:ext cx="176778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059669"/>
                </a:solidFill>
                <a:latin typeface="Inter"/>
              </a:rPr>
              <a:t>P2 (3.5h):</a:t>
            </a:r>
            <a:r>
              <a:rPr b="0" sz="975" i="0" u="none">
                <a:solidFill>
                  <a:srgbClr val="334155"/>
                </a:solidFill>
                <a:latin typeface="Inter"/>
              </a:rPr>
              <a:t> Analytical SQL views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484715" y="4429125"/>
            <a:ext cx="176778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D97706"/>
                </a:solidFill>
                <a:latin typeface="Inter"/>
              </a:rPr>
              <a:t>P3 (5.0h):</a:t>
            </a:r>
            <a:r>
              <a:rPr b="0" sz="975" i="0" u="none">
                <a:solidFill>
                  <a:srgbClr val="334155"/>
                </a:solidFill>
                <a:latin typeface="Inter"/>
              </a:rPr>
              <a:t> 4-page dashboard visuals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709695" y="3333750"/>
            <a:ext cx="2195196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0F172A"/>
                </a:solidFill>
                <a:latin typeface="Plus Jakarta Sans"/>
              </a:rPr>
              <a:t>Report &amp; Deployment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709695" y="3629025"/>
            <a:ext cx="176778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0284C7"/>
                </a:solidFill>
                <a:latin typeface="Inter"/>
              </a:rPr>
              <a:t>P1 (3.0h):</a:t>
            </a:r>
            <a:r>
              <a:rPr b="0" sz="975" i="0" u="none">
                <a:solidFill>
                  <a:srgbClr val="334155"/>
                </a:solidFill>
                <a:latin typeface="Inter"/>
              </a:rPr>
              <a:t> Python script refactoring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709695" y="4029075"/>
            <a:ext cx="176778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059669"/>
                </a:solidFill>
                <a:latin typeface="Inter"/>
              </a:rPr>
              <a:t>P2 (2.5h):</a:t>
            </a:r>
            <a:r>
              <a:rPr b="0" sz="975" i="0" u="none">
                <a:solidFill>
                  <a:srgbClr val="334155"/>
                </a:solidFill>
                <a:latin typeface="Inter"/>
              </a:rPr>
              <a:t> ERD &amp; SQL documentation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709695" y="4429125"/>
            <a:ext cx="176778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D97706"/>
                </a:solidFill>
                <a:latin typeface="Inter"/>
              </a:rPr>
              <a:t>P3 (4.0h):</a:t>
            </a:r>
            <a:r>
              <a:rPr b="0" sz="975" i="0" u="none">
                <a:solidFill>
                  <a:srgbClr val="334155"/>
                </a:solidFill>
                <a:latin typeface="Inter"/>
              </a:rPr>
              <a:t> Strategy report &amp; GitHub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05023" y="3057525"/>
            <a:ext cx="419100" cy="142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1D4ED8"/>
                </a:solidFill>
                <a:latin typeface="Inter"/>
              </a:rPr>
              <a:t>DAY 1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701254" y="3062287"/>
            <a:ext cx="1066800" cy="1333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825" i="0" u="none">
                <a:solidFill>
                  <a:srgbClr val="64748B"/>
                </a:solidFill>
                <a:latin typeface="Inter"/>
              </a:rPr>
              <a:t>⏱️ 9.0 hrs total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130004" y="3057525"/>
            <a:ext cx="438150" cy="142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B45309"/>
                </a:solidFill>
                <a:latin typeface="Inter"/>
              </a:rPr>
              <a:t>DAY 2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897659" y="3062287"/>
            <a:ext cx="1095375" cy="1333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825" i="0" u="none">
                <a:solidFill>
                  <a:srgbClr val="64748B"/>
                </a:solidFill>
                <a:latin typeface="Inter"/>
              </a:rPr>
              <a:t>⏱️ 11.0 hrs total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354984" y="3057525"/>
            <a:ext cx="447675" cy="142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047857"/>
                </a:solidFill>
                <a:latin typeface="Inter"/>
              </a:rPr>
              <a:t>DAY 3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103590" y="3062287"/>
            <a:ext cx="1114425" cy="1333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825" i="0" u="none">
                <a:solidFill>
                  <a:srgbClr val="64748B"/>
                </a:solidFill>
                <a:latin typeface="Inter"/>
              </a:rPr>
              <a:t>⏱️ 12.5 hrs total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579965" y="3057525"/>
            <a:ext cx="447675" cy="142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3730A3"/>
                </a:solidFill>
                <a:latin typeface="Inter"/>
              </a:rPr>
              <a:t>DAY 4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328570" y="3062287"/>
            <a:ext cx="1114425" cy="1333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825" i="0" u="none">
                <a:solidFill>
                  <a:srgbClr val="64748B"/>
                </a:solidFill>
                <a:latin typeface="Inter"/>
              </a:rPr>
              <a:t>⏱️ 12.0 hrs total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804945" y="3057525"/>
            <a:ext cx="438150" cy="142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6B21A8"/>
                </a:solidFill>
                <a:latin typeface="Inter"/>
              </a:rPr>
              <a:t>DAY 5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601176" y="3062287"/>
            <a:ext cx="1066800" cy="1333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825" i="0" u="none">
                <a:solidFill>
                  <a:srgbClr val="64748B"/>
                </a:solidFill>
                <a:latin typeface="Inter"/>
              </a:rPr>
              <a:t>⏱️ 9.5 hrs total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2525315"/>
            <a:ext cx="3505200" cy="2702569"/>
          </a:xfrm>
          <a:prstGeom prst="roundRect">
            <a:avLst>
              <a:gd name="adj" fmla="val 4229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343400" y="2632025"/>
            <a:ext cx="3505200" cy="2489299"/>
          </a:xfrm>
          <a:prstGeom prst="roundRect">
            <a:avLst>
              <a:gd name="adj" fmla="val 4591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077200" y="2632025"/>
            <a:ext cx="3505200" cy="2489299"/>
          </a:xfrm>
          <a:prstGeom prst="roundRect">
            <a:avLst>
              <a:gd name="adj" fmla="val 4591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09600" y="5218360"/>
            <a:ext cx="35052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09600" y="2525315"/>
            <a:ext cx="3505200" cy="38100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09600" y="2525315"/>
            <a:ext cx="9525" cy="2702569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105275" y="2525315"/>
            <a:ext cx="9525" cy="2702569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343400" y="5111799"/>
            <a:ext cx="35052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43400" y="2632025"/>
            <a:ext cx="3505200" cy="38100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43400" y="2632025"/>
            <a:ext cx="9525" cy="2489299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839075" y="2632025"/>
            <a:ext cx="9525" cy="2489299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077200" y="5111799"/>
            <a:ext cx="35052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077200" y="2632025"/>
            <a:ext cx="3505200" cy="3810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77200" y="2632025"/>
            <a:ext cx="9525" cy="2489299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1572875" y="2632025"/>
            <a:ext cx="9525" cy="2489299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2971800" y="2792015"/>
            <a:ext cx="904875" cy="200025"/>
          </a:xfrm>
          <a:prstGeom prst="roundRect">
            <a:avLst>
              <a:gd name="adj" fmla="val 50000"/>
            </a:avLst>
          </a:prstGeom>
          <a:solidFill>
            <a:srgbClr val="E0F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696075" y="2898725"/>
            <a:ext cx="914400" cy="200025"/>
          </a:xfrm>
          <a:prstGeom prst="roundRect">
            <a:avLst>
              <a:gd name="adj" fmla="val 50000"/>
            </a:avLst>
          </a:prstGeom>
          <a:solidFill>
            <a:srgbClr val="D1FA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10448925" y="2898725"/>
            <a:ext cx="895350" cy="200025"/>
          </a:xfrm>
          <a:prstGeom prst="roundRect">
            <a:avLst>
              <a:gd name="adj" fmla="val 50000"/>
            </a:avLst>
          </a:prstGeom>
          <a:solidFill>
            <a:srgbClr val="FEF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2563EB"/>
                </a:solidFill>
                <a:latin typeface="Plus Jakarta Sans"/>
              </a:rPr>
              <a:t>DAY 1 PARALLEL TASKS • SCOPING, SETUP &amp; DATA ACQUISITION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09600" y="704850"/>
            <a:ext cx="11582400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Plus Jakarta Sans"/>
              </a:rPr>
              <a:t>Day 1: Granular Task Steps &amp; Hourly Allocation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7725" y="3087290"/>
            <a:ext cx="3975496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yfinance Extraction Pipeline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81525" y="3194000"/>
            <a:ext cx="3975496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Database Schema &amp; ERD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15325" y="3194000"/>
            <a:ext cx="3876675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Requirement &amp; Wireframing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7725" y="2815828"/>
            <a:ext cx="1643062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0284C7"/>
                </a:solidFill>
                <a:latin typeface="Inter"/>
              </a:rPr>
              <a:t>PERSON 1 • DATA ENG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067050" y="2820590"/>
            <a:ext cx="809625" cy="142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0369A1"/>
                </a:solidFill>
                <a:latin typeface="Inter"/>
              </a:rPr>
              <a:t>⏱️ 3.5 Hours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42975" y="3422570"/>
            <a:ext cx="76200" cy="2095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475569"/>
                </a:solidFill>
                <a:latin typeface="Inter"/>
              </a:rPr>
              <a:t>•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19175" y="3420665"/>
            <a:ext cx="2952750" cy="639812"/>
          </a:xfrm>
          <a:prstGeom prst="rect">
            <a:avLst/>
          </a:prstGeom>
          <a:noFill/>
        </p:spPr>
        <p:txBody>
          <a:bodyPr wrap="square" lIns="76200" rIns="0" tIns="0" bIns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b="1" sz="1050" i="0" u="none">
                <a:solidFill>
                  <a:srgbClr val="475569"/>
                </a:solidFill>
                <a:latin typeface="Inter"/>
              </a:rPr>
              <a:t>Step 1 (1.0h):</a:t>
            </a:r>
            <a:r>
              <a:rPr b="0" sz="1050" i="0" u="none">
                <a:solidFill>
                  <a:srgbClr val="475569"/>
                </a:solidFill>
                <a:latin typeface="Inter"/>
              </a:rPr>
              <a:t> Setup virtual env &amp; configure yfinance API scripts for AAPL, MSFT, NVDA, TSLA, SPY.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42975" y="4100482"/>
            <a:ext cx="76200" cy="2095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475569"/>
                </a:solidFill>
                <a:latin typeface="Inter"/>
              </a:rPr>
              <a:t>•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19175" y="4098577"/>
            <a:ext cx="2952750" cy="426541"/>
          </a:xfrm>
          <a:prstGeom prst="rect">
            <a:avLst/>
          </a:prstGeom>
          <a:noFill/>
        </p:spPr>
        <p:txBody>
          <a:bodyPr wrap="square" lIns="76200" rIns="0" tIns="0" bIns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b="1" sz="1050" i="0" u="none">
                <a:solidFill>
                  <a:srgbClr val="475569"/>
                </a:solidFill>
                <a:latin typeface="Inter"/>
              </a:rPr>
              <a:t>Step 2 (1.5h):</a:t>
            </a:r>
            <a:r>
              <a:rPr b="0" sz="1050" i="0" u="none">
                <a:solidFill>
                  <a:srgbClr val="475569"/>
                </a:solidFill>
                <a:latin typeface="Inter"/>
              </a:rPr>
              <a:t> Pull 5 years of daily OHLCV and adjusted close price feeds.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42975" y="4565124"/>
            <a:ext cx="76200" cy="2095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475569"/>
                </a:solidFill>
                <a:latin typeface="Inter"/>
              </a:rPr>
              <a:t>•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19175" y="4563219"/>
            <a:ext cx="2952750" cy="426541"/>
          </a:xfrm>
          <a:prstGeom prst="rect">
            <a:avLst/>
          </a:prstGeom>
          <a:noFill/>
        </p:spPr>
        <p:txBody>
          <a:bodyPr wrap="square" lIns="76200" rIns="0" tIns="0" bIns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b="1" sz="1050" i="0" u="none">
                <a:solidFill>
                  <a:srgbClr val="475569"/>
                </a:solidFill>
                <a:latin typeface="Inter"/>
              </a:rPr>
              <a:t>Step 3 (1.0h):</a:t>
            </a:r>
            <a:r>
              <a:rPr b="0" sz="1050" i="0" u="none">
                <a:solidFill>
                  <a:srgbClr val="475569"/>
                </a:solidFill>
                <a:latin typeface="Inter"/>
              </a:rPr>
              <a:t> Validate raw schemas, check nulls, and write to `/data/raw/` CSV files.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81525" y="2922537"/>
            <a:ext cx="1595437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059669"/>
                </a:solidFill>
                <a:latin typeface="Inter"/>
              </a:rPr>
              <a:t>PERSON 2 • DB ARCH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791325" y="2927300"/>
            <a:ext cx="819150" cy="142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047857"/>
                </a:solidFill>
                <a:latin typeface="Inter"/>
              </a:rPr>
              <a:t>⏱️ 3.0 Hours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676775" y="3529280"/>
            <a:ext cx="76200" cy="2095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475569"/>
                </a:solidFill>
                <a:latin typeface="Inter"/>
              </a:rPr>
              <a:t>•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752975" y="3527375"/>
            <a:ext cx="2952750" cy="426541"/>
          </a:xfrm>
          <a:prstGeom prst="rect">
            <a:avLst/>
          </a:prstGeom>
          <a:noFill/>
        </p:spPr>
        <p:txBody>
          <a:bodyPr wrap="square" lIns="76200" rIns="0" tIns="0" bIns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b="1" sz="1050" i="0" u="none">
                <a:solidFill>
                  <a:srgbClr val="475569"/>
                </a:solidFill>
                <a:latin typeface="Inter"/>
              </a:rPr>
              <a:t>Step 1 (1.0h):</a:t>
            </a:r>
            <a:r>
              <a:rPr b="0" sz="1050" i="0" u="none">
                <a:solidFill>
                  <a:srgbClr val="475569"/>
                </a:solidFill>
                <a:latin typeface="Inter"/>
              </a:rPr>
              <a:t> Design 3NF Entity-Relationship Diagram (ERD) mapping Fact &amp; Dim tables.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676775" y="3993921"/>
            <a:ext cx="76200" cy="2095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475569"/>
                </a:solidFill>
                <a:latin typeface="Inter"/>
              </a:rPr>
              <a:t>•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752975" y="3992016"/>
            <a:ext cx="2952750" cy="426541"/>
          </a:xfrm>
          <a:prstGeom prst="rect">
            <a:avLst/>
          </a:prstGeom>
          <a:noFill/>
        </p:spPr>
        <p:txBody>
          <a:bodyPr wrap="square" lIns="76200" rIns="0" tIns="0" bIns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b="1" sz="1050" i="0" u="none">
                <a:solidFill>
                  <a:srgbClr val="475569"/>
                </a:solidFill>
                <a:latin typeface="Inter"/>
              </a:rPr>
              <a:t>Step 2 (1.0h):</a:t>
            </a:r>
            <a:r>
              <a:rPr b="0" sz="1050" i="0" u="none">
                <a:solidFill>
                  <a:srgbClr val="475569"/>
                </a:solidFill>
                <a:latin typeface="Inter"/>
              </a:rPr>
              <a:t> Define Primary/Foreign Keys, indexes, and data types across entities.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676775" y="4458563"/>
            <a:ext cx="76200" cy="2095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475569"/>
                </a:solidFill>
                <a:latin typeface="Inter"/>
              </a:rPr>
              <a:t>•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752975" y="4456658"/>
            <a:ext cx="2952750" cy="426541"/>
          </a:xfrm>
          <a:prstGeom prst="rect">
            <a:avLst/>
          </a:prstGeom>
          <a:noFill/>
        </p:spPr>
        <p:txBody>
          <a:bodyPr wrap="square" lIns="76200" rIns="0" tIns="0" bIns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b="1" sz="1050" i="0" u="none">
                <a:solidFill>
                  <a:srgbClr val="475569"/>
                </a:solidFill>
                <a:latin typeface="Inter"/>
              </a:rPr>
              <a:t>Step 3 (1.0h):</a:t>
            </a:r>
            <a:r>
              <a:rPr b="0" sz="1050" i="0" u="none">
                <a:solidFill>
                  <a:srgbClr val="475569"/>
                </a:solidFill>
                <a:latin typeface="Inter"/>
              </a:rPr>
              <a:t> Provision local PostgreSQL database &amp; assign user role permissions.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315325" y="2922537"/>
            <a:ext cx="2083593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D97706"/>
                </a:solidFill>
                <a:latin typeface="Inter"/>
              </a:rPr>
              <a:t>PERSON 3 • POWER BI LEAD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544175" y="2927300"/>
            <a:ext cx="800100" cy="142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B45309"/>
                </a:solidFill>
                <a:latin typeface="Inter"/>
              </a:rPr>
              <a:t>⏱️ 2.5 Hours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410575" y="3529280"/>
            <a:ext cx="76200" cy="2095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475569"/>
                </a:solidFill>
                <a:latin typeface="Inter"/>
              </a:rPr>
              <a:t>•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486775" y="3527375"/>
            <a:ext cx="2952750" cy="426541"/>
          </a:xfrm>
          <a:prstGeom prst="rect">
            <a:avLst/>
          </a:prstGeom>
          <a:noFill/>
        </p:spPr>
        <p:txBody>
          <a:bodyPr wrap="square" lIns="76200" rIns="0" tIns="0" bIns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b="1" sz="1050" i="0" u="none">
                <a:solidFill>
                  <a:srgbClr val="475569"/>
                </a:solidFill>
                <a:latin typeface="Inter"/>
              </a:rPr>
              <a:t>Step 1 (0.5h):</a:t>
            </a:r>
            <a:r>
              <a:rPr b="0" sz="1050" i="0" u="none">
                <a:solidFill>
                  <a:srgbClr val="475569"/>
                </a:solidFill>
                <a:latin typeface="Inter"/>
              </a:rPr>
              <a:t> Draft key business questions &amp; core metrics (ROI, Volatility, Sharpe).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410575" y="3993921"/>
            <a:ext cx="76200" cy="2095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475569"/>
                </a:solidFill>
                <a:latin typeface="Inter"/>
              </a:rPr>
              <a:t>•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486775" y="3992016"/>
            <a:ext cx="2952750" cy="426541"/>
          </a:xfrm>
          <a:prstGeom prst="rect">
            <a:avLst/>
          </a:prstGeom>
          <a:noFill/>
        </p:spPr>
        <p:txBody>
          <a:bodyPr wrap="square" lIns="76200" rIns="0" tIns="0" bIns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b="1" sz="1050" i="0" u="none">
                <a:solidFill>
                  <a:srgbClr val="475569"/>
                </a:solidFill>
                <a:latin typeface="Inter"/>
              </a:rPr>
              <a:t>Step 2 (1.0h):</a:t>
            </a:r>
            <a:r>
              <a:rPr b="0" sz="1050" i="0" u="none">
                <a:solidFill>
                  <a:srgbClr val="475569"/>
                </a:solidFill>
                <a:latin typeface="Inter"/>
              </a:rPr>
              <a:t> Mockup 4-page dashboard layouts in Figma/Excalidraw.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410575" y="4458563"/>
            <a:ext cx="76200" cy="2095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475569"/>
                </a:solidFill>
                <a:latin typeface="Inter"/>
              </a:rPr>
              <a:t>•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486775" y="4456658"/>
            <a:ext cx="2952750" cy="426541"/>
          </a:xfrm>
          <a:prstGeom prst="rect">
            <a:avLst/>
          </a:prstGeom>
          <a:noFill/>
        </p:spPr>
        <p:txBody>
          <a:bodyPr wrap="square" lIns="76200" rIns="0" tIns="0" bIns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b="1" sz="1050" i="0" u="none">
                <a:solidFill>
                  <a:srgbClr val="475569"/>
                </a:solidFill>
                <a:latin typeface="Inter"/>
              </a:rPr>
              <a:t>Step 3 (1.0h):</a:t>
            </a:r>
            <a:r>
              <a:rPr b="0" sz="1050" i="0" u="none">
                <a:solidFill>
                  <a:srgbClr val="475569"/>
                </a:solidFill>
                <a:latin typeface="Inter"/>
              </a:rPr>
              <a:t> Choose accessible palette, typography hierarchy, &amp; visual grid guide.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2525315"/>
            <a:ext cx="3505200" cy="2702569"/>
          </a:xfrm>
          <a:prstGeom prst="roundRect">
            <a:avLst>
              <a:gd name="adj" fmla="val 4229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343400" y="2632025"/>
            <a:ext cx="3505200" cy="2489299"/>
          </a:xfrm>
          <a:prstGeom prst="roundRect">
            <a:avLst>
              <a:gd name="adj" fmla="val 4591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077200" y="2632025"/>
            <a:ext cx="3505200" cy="2489299"/>
          </a:xfrm>
          <a:prstGeom prst="roundRect">
            <a:avLst>
              <a:gd name="adj" fmla="val 4591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09600" y="5218360"/>
            <a:ext cx="35052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09600" y="2525315"/>
            <a:ext cx="3505200" cy="38100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09600" y="2525315"/>
            <a:ext cx="9525" cy="2702569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105275" y="2525315"/>
            <a:ext cx="9525" cy="2702569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343400" y="5111799"/>
            <a:ext cx="35052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43400" y="2632025"/>
            <a:ext cx="3505200" cy="38100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43400" y="2632025"/>
            <a:ext cx="9525" cy="2489299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839075" y="2632025"/>
            <a:ext cx="9525" cy="2489299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077200" y="5111799"/>
            <a:ext cx="35052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077200" y="2632025"/>
            <a:ext cx="3505200" cy="3810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77200" y="2632025"/>
            <a:ext cx="9525" cy="2489299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1572875" y="2632025"/>
            <a:ext cx="9525" cy="2489299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2962275" y="2792015"/>
            <a:ext cx="914400" cy="200025"/>
          </a:xfrm>
          <a:prstGeom prst="roundRect">
            <a:avLst>
              <a:gd name="adj" fmla="val 50000"/>
            </a:avLst>
          </a:prstGeom>
          <a:solidFill>
            <a:srgbClr val="E0F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705600" y="2898725"/>
            <a:ext cx="904875" cy="200025"/>
          </a:xfrm>
          <a:prstGeom prst="roundRect">
            <a:avLst>
              <a:gd name="adj" fmla="val 50000"/>
            </a:avLst>
          </a:prstGeom>
          <a:solidFill>
            <a:srgbClr val="D1FA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10439400" y="2898725"/>
            <a:ext cx="904875" cy="200025"/>
          </a:xfrm>
          <a:prstGeom prst="roundRect">
            <a:avLst>
              <a:gd name="adj" fmla="val 50000"/>
            </a:avLst>
          </a:prstGeom>
          <a:solidFill>
            <a:srgbClr val="FEF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2563EB"/>
                </a:solidFill>
                <a:latin typeface="Plus Jakarta Sans"/>
              </a:rPr>
              <a:t>DAY 2 PARALLEL TASKS • DATA WRANGLING, DDL &amp; STAR SCHEMA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09600" y="704850"/>
            <a:ext cx="11582400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Plus Jakarta Sans"/>
              </a:rPr>
              <a:t>Day 2: Granular Task Steps &amp; Hourly Allocation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7725" y="3087290"/>
            <a:ext cx="3975496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Python Data Wrangling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81525" y="3194000"/>
            <a:ext cx="3975496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SQL DDL &amp; Ingestion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15325" y="3194000"/>
            <a:ext cx="3876675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Data Model Architecture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7725" y="2815828"/>
            <a:ext cx="1643062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0284C7"/>
                </a:solidFill>
                <a:latin typeface="Inter"/>
              </a:rPr>
              <a:t>PERSON 1 • DATA ENG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057525" y="2820590"/>
            <a:ext cx="819150" cy="142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0369A1"/>
                </a:solidFill>
                <a:latin typeface="Inter"/>
              </a:rPr>
              <a:t>⏱️ 4.0 Hours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42975" y="3422570"/>
            <a:ext cx="76200" cy="2095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475569"/>
                </a:solidFill>
                <a:latin typeface="Inter"/>
              </a:rPr>
              <a:t>•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19175" y="3420665"/>
            <a:ext cx="2952750" cy="639812"/>
          </a:xfrm>
          <a:prstGeom prst="rect">
            <a:avLst/>
          </a:prstGeom>
          <a:noFill/>
        </p:spPr>
        <p:txBody>
          <a:bodyPr wrap="square" lIns="76200" rIns="0" tIns="0" bIns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b="1" sz="1050" i="0" u="none">
                <a:solidFill>
                  <a:srgbClr val="475569"/>
                </a:solidFill>
                <a:latin typeface="Inter"/>
              </a:rPr>
              <a:t>Step 1 (1.5h):</a:t>
            </a:r>
            <a:r>
              <a:rPr b="0" sz="1050" i="0" u="none">
                <a:solidFill>
                  <a:srgbClr val="475569"/>
                </a:solidFill>
                <a:latin typeface="Inter"/>
              </a:rPr>
              <a:t> Impute missing weekend/holiday dates using forward-fill methods.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42975" y="4100482"/>
            <a:ext cx="76200" cy="2095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475569"/>
                </a:solidFill>
                <a:latin typeface="Inter"/>
              </a:rPr>
              <a:t>•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19175" y="4098577"/>
            <a:ext cx="2952750" cy="426541"/>
          </a:xfrm>
          <a:prstGeom prst="rect">
            <a:avLst/>
          </a:prstGeom>
          <a:noFill/>
        </p:spPr>
        <p:txBody>
          <a:bodyPr wrap="square" lIns="76200" rIns="0" tIns="0" bIns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b="1" sz="1050" i="0" u="none">
                <a:solidFill>
                  <a:srgbClr val="475569"/>
                </a:solidFill>
                <a:latin typeface="Inter"/>
              </a:rPr>
              <a:t>Step 2 (1.5h):</a:t>
            </a:r>
            <a:r>
              <a:rPr b="0" sz="1050" i="0" u="none">
                <a:solidFill>
                  <a:srgbClr val="475569"/>
                </a:solidFill>
                <a:latin typeface="Inter"/>
              </a:rPr>
              <a:t> Audit data types &amp; detect stock split anomalies using z-scores.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42975" y="4565124"/>
            <a:ext cx="76200" cy="2095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475569"/>
                </a:solidFill>
                <a:latin typeface="Inter"/>
              </a:rPr>
              <a:t>•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19175" y="4563219"/>
            <a:ext cx="2952750" cy="426541"/>
          </a:xfrm>
          <a:prstGeom prst="rect">
            <a:avLst/>
          </a:prstGeom>
          <a:noFill/>
        </p:spPr>
        <p:txBody>
          <a:bodyPr wrap="square" lIns="76200" rIns="0" tIns="0" bIns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b="1" sz="1050" i="0" u="none">
                <a:solidFill>
                  <a:srgbClr val="475569"/>
                </a:solidFill>
                <a:latin typeface="Inter"/>
              </a:rPr>
              <a:t>Step 3 (1.0h):</a:t>
            </a:r>
            <a:r>
              <a:rPr b="0" sz="1050" i="0" u="none">
                <a:solidFill>
                  <a:srgbClr val="475569"/>
                </a:solidFill>
                <a:latin typeface="Inter"/>
              </a:rPr>
              <a:t> Standardize dates &amp; export cleaned sets to `/data/processed/`.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81525" y="2922537"/>
            <a:ext cx="1595437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059669"/>
                </a:solidFill>
                <a:latin typeface="Inter"/>
              </a:rPr>
              <a:t>PERSON 2 • DB ARCH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800850" y="2927300"/>
            <a:ext cx="809625" cy="142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047857"/>
                </a:solidFill>
                <a:latin typeface="Inter"/>
              </a:rPr>
              <a:t>⏱️ 3.5 Hours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676775" y="3529280"/>
            <a:ext cx="76200" cy="2095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475569"/>
                </a:solidFill>
                <a:latin typeface="Inter"/>
              </a:rPr>
              <a:t>•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752975" y="3527375"/>
            <a:ext cx="2952750" cy="426541"/>
          </a:xfrm>
          <a:prstGeom prst="rect">
            <a:avLst/>
          </a:prstGeom>
          <a:noFill/>
        </p:spPr>
        <p:txBody>
          <a:bodyPr wrap="square" lIns="76200" rIns="0" tIns="0" bIns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b="1" sz="1050" i="0" u="none">
                <a:solidFill>
                  <a:srgbClr val="475569"/>
                </a:solidFill>
                <a:latin typeface="Inter"/>
              </a:rPr>
              <a:t>Step 1 (1.5h):</a:t>
            </a:r>
            <a:r>
              <a:rPr b="0" sz="1050" i="0" u="none">
                <a:solidFill>
                  <a:srgbClr val="475569"/>
                </a:solidFill>
                <a:latin typeface="Inter"/>
              </a:rPr>
              <a:t> Execute `CREATE TABLE` DDL for Stock_Prices, Company, Holdings.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676775" y="3993921"/>
            <a:ext cx="76200" cy="2095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475569"/>
                </a:solidFill>
                <a:latin typeface="Inter"/>
              </a:rPr>
              <a:t>•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752975" y="3992016"/>
            <a:ext cx="2952750" cy="426541"/>
          </a:xfrm>
          <a:prstGeom prst="rect">
            <a:avLst/>
          </a:prstGeom>
          <a:noFill/>
        </p:spPr>
        <p:txBody>
          <a:bodyPr wrap="square" lIns="76200" rIns="0" tIns="0" bIns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b="1" sz="1050" i="0" u="none">
                <a:solidFill>
                  <a:srgbClr val="475569"/>
                </a:solidFill>
                <a:latin typeface="Inter"/>
              </a:rPr>
              <a:t>Step 2 (1.0h):</a:t>
            </a:r>
            <a:r>
              <a:rPr b="0" sz="1050" i="0" u="none">
                <a:solidFill>
                  <a:srgbClr val="475569"/>
                </a:solidFill>
                <a:latin typeface="Inter"/>
              </a:rPr>
              <a:t> Bulk load clean CSVs into PostgreSQL via `COPY` command.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676775" y="4458563"/>
            <a:ext cx="76200" cy="2095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475569"/>
                </a:solidFill>
                <a:latin typeface="Inter"/>
              </a:rPr>
              <a:t>•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752975" y="4456658"/>
            <a:ext cx="2952750" cy="426541"/>
          </a:xfrm>
          <a:prstGeom prst="rect">
            <a:avLst/>
          </a:prstGeom>
          <a:noFill/>
        </p:spPr>
        <p:txBody>
          <a:bodyPr wrap="square" lIns="76200" rIns="0" tIns="0" bIns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b="1" sz="1050" i="0" u="none">
                <a:solidFill>
                  <a:srgbClr val="475569"/>
                </a:solidFill>
                <a:latin typeface="Inter"/>
              </a:rPr>
              <a:t>Step 3 (1.0h):</a:t>
            </a:r>
            <a:r>
              <a:rPr b="0" sz="1050" i="0" u="none">
                <a:solidFill>
                  <a:srgbClr val="475569"/>
                </a:solidFill>
                <a:latin typeface="Inter"/>
              </a:rPr>
              <a:t> Add indexes on `date` and `ticker` columns for query speedup.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315325" y="2922537"/>
            <a:ext cx="2083593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D97706"/>
                </a:solidFill>
                <a:latin typeface="Inter"/>
              </a:rPr>
              <a:t>PERSON 3 • POWER BI LEAD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534650" y="2927300"/>
            <a:ext cx="809625" cy="142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B45309"/>
                </a:solidFill>
                <a:latin typeface="Inter"/>
              </a:rPr>
              <a:t>⏱️ 3.5 Hours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410575" y="3529280"/>
            <a:ext cx="76200" cy="2095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475569"/>
                </a:solidFill>
                <a:latin typeface="Inter"/>
              </a:rPr>
              <a:t>•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486775" y="3527375"/>
            <a:ext cx="2952750" cy="426541"/>
          </a:xfrm>
          <a:prstGeom prst="rect">
            <a:avLst/>
          </a:prstGeom>
          <a:noFill/>
        </p:spPr>
        <p:txBody>
          <a:bodyPr wrap="square" lIns="76200" rIns="0" tIns="0" bIns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b="1" sz="1050" i="0" u="none">
                <a:solidFill>
                  <a:srgbClr val="475569"/>
                </a:solidFill>
                <a:latin typeface="Inter"/>
              </a:rPr>
              <a:t>Step 1 (1.0h):</a:t>
            </a:r>
            <a:r>
              <a:rPr b="0" sz="1050" i="0" u="none">
                <a:solidFill>
                  <a:srgbClr val="475569"/>
                </a:solidFill>
                <a:latin typeface="Inter"/>
              </a:rPr>
              <a:t> Connect Power BI directly to PostgreSQL database staging tables.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410575" y="3993921"/>
            <a:ext cx="76200" cy="2095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475569"/>
                </a:solidFill>
                <a:latin typeface="Inter"/>
              </a:rPr>
              <a:t>•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486775" y="3992016"/>
            <a:ext cx="2952750" cy="426541"/>
          </a:xfrm>
          <a:prstGeom prst="rect">
            <a:avLst/>
          </a:prstGeom>
          <a:noFill/>
        </p:spPr>
        <p:txBody>
          <a:bodyPr wrap="square" lIns="76200" rIns="0" tIns="0" bIns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b="1" sz="1050" i="0" u="none">
                <a:solidFill>
                  <a:srgbClr val="475569"/>
                </a:solidFill>
                <a:latin typeface="Inter"/>
              </a:rPr>
              <a:t>Step 2 (1.5h):</a:t>
            </a:r>
            <a:r>
              <a:rPr b="0" sz="1050" i="0" u="none">
                <a:solidFill>
                  <a:srgbClr val="475569"/>
                </a:solidFill>
                <a:latin typeface="Inter"/>
              </a:rPr>
              <a:t> Build 1-to-many Star Schema data model relationships.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410575" y="4458563"/>
            <a:ext cx="76200" cy="2095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475569"/>
                </a:solidFill>
                <a:latin typeface="Inter"/>
              </a:rPr>
              <a:t>•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486775" y="4456658"/>
            <a:ext cx="2952750" cy="426541"/>
          </a:xfrm>
          <a:prstGeom prst="rect">
            <a:avLst/>
          </a:prstGeom>
          <a:noFill/>
        </p:spPr>
        <p:txBody>
          <a:bodyPr wrap="square" lIns="76200" rIns="0" tIns="0" bIns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b="1" sz="1050" i="0" u="none">
                <a:solidFill>
                  <a:srgbClr val="475569"/>
                </a:solidFill>
                <a:latin typeface="Inter"/>
              </a:rPr>
              <a:t>Step 3 (1.0h):</a:t>
            </a:r>
            <a:r>
              <a:rPr b="0" sz="1050" i="0" u="none">
                <a:solidFill>
                  <a:srgbClr val="475569"/>
                </a:solidFill>
                <a:latin typeface="Inter"/>
              </a:rPr>
              <a:t> Generate DAX `Dim_Date` table with Fiscal Year &amp; Quarter offsets.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2632025"/>
            <a:ext cx="3505200" cy="2489299"/>
          </a:xfrm>
          <a:prstGeom prst="roundRect">
            <a:avLst>
              <a:gd name="adj" fmla="val 4591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343400" y="2632025"/>
            <a:ext cx="3505200" cy="2489299"/>
          </a:xfrm>
          <a:prstGeom prst="roundRect">
            <a:avLst>
              <a:gd name="adj" fmla="val 4591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077200" y="2632025"/>
            <a:ext cx="3505200" cy="2489299"/>
          </a:xfrm>
          <a:prstGeom prst="roundRect">
            <a:avLst>
              <a:gd name="adj" fmla="val 4591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09600" y="5111799"/>
            <a:ext cx="35052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09600" y="2632025"/>
            <a:ext cx="3505200" cy="38100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09600" y="2632025"/>
            <a:ext cx="9525" cy="2489299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105275" y="2632025"/>
            <a:ext cx="9525" cy="2489299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343400" y="5111799"/>
            <a:ext cx="35052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43400" y="2632025"/>
            <a:ext cx="3505200" cy="38100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43400" y="2632025"/>
            <a:ext cx="9525" cy="2489299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839075" y="2632025"/>
            <a:ext cx="9525" cy="2489299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077200" y="5111799"/>
            <a:ext cx="35052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077200" y="2632025"/>
            <a:ext cx="3505200" cy="3810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77200" y="2632025"/>
            <a:ext cx="9525" cy="2489299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1572875" y="2632025"/>
            <a:ext cx="9525" cy="2489299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2971800" y="2898725"/>
            <a:ext cx="904875" cy="200025"/>
          </a:xfrm>
          <a:prstGeom prst="roundRect">
            <a:avLst>
              <a:gd name="adj" fmla="val 50000"/>
            </a:avLst>
          </a:prstGeom>
          <a:solidFill>
            <a:srgbClr val="E0F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696075" y="2898725"/>
            <a:ext cx="914400" cy="200025"/>
          </a:xfrm>
          <a:prstGeom prst="roundRect">
            <a:avLst>
              <a:gd name="adj" fmla="val 50000"/>
            </a:avLst>
          </a:prstGeom>
          <a:solidFill>
            <a:srgbClr val="D1FA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10429875" y="2898725"/>
            <a:ext cx="914400" cy="200025"/>
          </a:xfrm>
          <a:prstGeom prst="roundRect">
            <a:avLst>
              <a:gd name="adj" fmla="val 50000"/>
            </a:avLst>
          </a:prstGeom>
          <a:solidFill>
            <a:srgbClr val="FEF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2563EB"/>
                </a:solidFill>
                <a:latin typeface="Plus Jakarta Sans"/>
              </a:rPr>
              <a:t>DAY 3 PARALLEL TASKS • FINANCIAL MATHEMATICS &amp; MEASURE LIBRARIES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09600" y="704850"/>
            <a:ext cx="11582400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Plus Jakarta Sans"/>
              </a:rPr>
              <a:t>Day 3: Granular Task Steps &amp; Hourly Allocation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7725" y="3194000"/>
            <a:ext cx="3975496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Python Financial Math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81525" y="3194000"/>
            <a:ext cx="3975496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SQL Window Functions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15325" y="3194000"/>
            <a:ext cx="3876675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DAX Measure Library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7725" y="2922537"/>
            <a:ext cx="1643062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0284C7"/>
                </a:solidFill>
                <a:latin typeface="Inter"/>
              </a:rPr>
              <a:t>PERSON 1 • DATA ENG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067050" y="2927300"/>
            <a:ext cx="809625" cy="142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0369A1"/>
                </a:solidFill>
                <a:latin typeface="Inter"/>
              </a:rPr>
              <a:t>⏱️ 4.5 Hours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42975" y="3529280"/>
            <a:ext cx="76200" cy="2095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475569"/>
                </a:solidFill>
                <a:latin typeface="Inter"/>
              </a:rPr>
              <a:t>•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19175" y="3527375"/>
            <a:ext cx="2952750" cy="426541"/>
          </a:xfrm>
          <a:prstGeom prst="rect">
            <a:avLst/>
          </a:prstGeom>
          <a:noFill/>
        </p:spPr>
        <p:txBody>
          <a:bodyPr wrap="square" lIns="76200" rIns="0" tIns="0" bIns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b="1" sz="1050" i="0" u="none">
                <a:solidFill>
                  <a:srgbClr val="475569"/>
                </a:solidFill>
                <a:latin typeface="Inter"/>
              </a:rPr>
              <a:t>Step 1 (1.5h):</a:t>
            </a:r>
            <a:r>
              <a:rPr b="0" sz="1050" i="0" u="none">
                <a:solidFill>
                  <a:srgbClr val="475569"/>
                </a:solidFill>
                <a:latin typeface="Inter"/>
              </a:rPr>
              <a:t> Calculate daily logarithmic &amp; percentage returns via Pandas vectorization.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42975" y="3993921"/>
            <a:ext cx="76200" cy="2095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475569"/>
                </a:solidFill>
                <a:latin typeface="Inter"/>
              </a:rPr>
              <a:t>•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19175" y="3992016"/>
            <a:ext cx="2952750" cy="426541"/>
          </a:xfrm>
          <a:prstGeom prst="rect">
            <a:avLst/>
          </a:prstGeom>
          <a:noFill/>
        </p:spPr>
        <p:txBody>
          <a:bodyPr wrap="square" lIns="76200" rIns="0" tIns="0" bIns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b="1" sz="1050" i="0" u="none">
                <a:solidFill>
                  <a:srgbClr val="475569"/>
                </a:solidFill>
                <a:latin typeface="Inter"/>
              </a:rPr>
              <a:t>Step 2 (1.5h):</a:t>
            </a:r>
            <a:r>
              <a:rPr b="0" sz="1050" i="0" u="none">
                <a:solidFill>
                  <a:srgbClr val="475569"/>
                </a:solidFill>
                <a:latin typeface="Inter"/>
              </a:rPr>
              <a:t> Compute 30-day rolling volatility and annualized standard deviation.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42975" y="4458563"/>
            <a:ext cx="76200" cy="2095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475569"/>
                </a:solidFill>
                <a:latin typeface="Inter"/>
              </a:rPr>
              <a:t>•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19175" y="4456658"/>
            <a:ext cx="2952750" cy="426541"/>
          </a:xfrm>
          <a:prstGeom prst="rect">
            <a:avLst/>
          </a:prstGeom>
          <a:noFill/>
        </p:spPr>
        <p:txBody>
          <a:bodyPr wrap="square" lIns="76200" rIns="0" tIns="0" bIns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b="1" sz="1050" i="0" u="none">
                <a:solidFill>
                  <a:srgbClr val="475569"/>
                </a:solidFill>
                <a:latin typeface="Inter"/>
              </a:rPr>
              <a:t>Step 3 (1.5h):</a:t>
            </a:r>
            <a:r>
              <a:rPr b="0" sz="1050" i="0" u="none">
                <a:solidFill>
                  <a:srgbClr val="475569"/>
                </a:solidFill>
                <a:latin typeface="Inter"/>
              </a:rPr>
              <a:t> Construct asset correlation matrices and max drawdown logic.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81525" y="2922537"/>
            <a:ext cx="1595437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059669"/>
                </a:solidFill>
                <a:latin typeface="Inter"/>
              </a:rPr>
              <a:t>PERSON 2 • DB ARCH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791325" y="2927300"/>
            <a:ext cx="819150" cy="142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047857"/>
                </a:solidFill>
                <a:latin typeface="Inter"/>
              </a:rPr>
              <a:t>⏱️ 4.0 Hours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676775" y="3529280"/>
            <a:ext cx="76200" cy="2095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475569"/>
                </a:solidFill>
                <a:latin typeface="Inter"/>
              </a:rPr>
              <a:t>•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752975" y="3527375"/>
            <a:ext cx="2952750" cy="426541"/>
          </a:xfrm>
          <a:prstGeom prst="rect">
            <a:avLst/>
          </a:prstGeom>
          <a:noFill/>
        </p:spPr>
        <p:txBody>
          <a:bodyPr wrap="square" lIns="76200" rIns="0" tIns="0" bIns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b="1" sz="1050" i="0" u="none">
                <a:solidFill>
                  <a:srgbClr val="475569"/>
                </a:solidFill>
                <a:latin typeface="Inter"/>
              </a:rPr>
              <a:t>Step 1 (1.5h):</a:t>
            </a:r>
            <a:r>
              <a:rPr b="0" sz="1050" i="0" u="none">
                <a:solidFill>
                  <a:srgbClr val="475569"/>
                </a:solidFill>
                <a:latin typeface="Inter"/>
              </a:rPr>
              <a:t> Write 30-day moving average queries using `AVG() OVER()`.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676775" y="3993921"/>
            <a:ext cx="76200" cy="2095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475569"/>
                </a:solidFill>
                <a:latin typeface="Inter"/>
              </a:rPr>
              <a:t>•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752975" y="3992016"/>
            <a:ext cx="2952750" cy="426541"/>
          </a:xfrm>
          <a:prstGeom prst="rect">
            <a:avLst/>
          </a:prstGeom>
          <a:noFill/>
        </p:spPr>
        <p:txBody>
          <a:bodyPr wrap="square" lIns="76200" rIns="0" tIns="0" bIns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b="1" sz="1050" i="0" u="none">
                <a:solidFill>
                  <a:srgbClr val="475569"/>
                </a:solidFill>
                <a:latin typeface="Inter"/>
              </a:rPr>
              <a:t>Step 2 (1.5h):</a:t>
            </a:r>
            <a:r>
              <a:rPr b="0" sz="1050" i="0" u="none">
                <a:solidFill>
                  <a:srgbClr val="475569"/>
                </a:solidFill>
                <a:latin typeface="Inter"/>
              </a:rPr>
              <a:t> Compute day-over-day price diffs &amp; velocity via `LAG()`.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676775" y="4458563"/>
            <a:ext cx="76200" cy="2095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475569"/>
                </a:solidFill>
                <a:latin typeface="Inter"/>
              </a:rPr>
              <a:t>•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752975" y="4456658"/>
            <a:ext cx="2952750" cy="426541"/>
          </a:xfrm>
          <a:prstGeom prst="rect">
            <a:avLst/>
          </a:prstGeom>
          <a:noFill/>
        </p:spPr>
        <p:txBody>
          <a:bodyPr wrap="square" lIns="76200" rIns="0" tIns="0" bIns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b="1" sz="1050" i="0" u="none">
                <a:solidFill>
                  <a:srgbClr val="475569"/>
                </a:solidFill>
                <a:latin typeface="Inter"/>
              </a:rPr>
              <a:t>Step 3 (1.0h):</a:t>
            </a:r>
            <a:r>
              <a:rPr b="0" sz="1050" i="0" u="none">
                <a:solidFill>
                  <a:srgbClr val="475569"/>
                </a:solidFill>
                <a:latin typeface="Inter"/>
              </a:rPr>
              <a:t> Rank stock performance dynamically using `DENSE_RANK()`.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315325" y="2922537"/>
            <a:ext cx="2083593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D97706"/>
                </a:solidFill>
                <a:latin typeface="Inter"/>
              </a:rPr>
              <a:t>PERSON 3 • POWER BI LEAD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525125" y="2927300"/>
            <a:ext cx="819150" cy="142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B45309"/>
                </a:solidFill>
                <a:latin typeface="Inter"/>
              </a:rPr>
              <a:t>⏱️ 4.0 Hours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410575" y="3529280"/>
            <a:ext cx="76200" cy="2095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475569"/>
                </a:solidFill>
                <a:latin typeface="Inter"/>
              </a:rPr>
              <a:t>•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486775" y="3527375"/>
            <a:ext cx="2952750" cy="426541"/>
          </a:xfrm>
          <a:prstGeom prst="rect">
            <a:avLst/>
          </a:prstGeom>
          <a:noFill/>
        </p:spPr>
        <p:txBody>
          <a:bodyPr wrap="square" lIns="76200" rIns="0" tIns="0" bIns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b="1" sz="1050" i="0" u="none">
                <a:solidFill>
                  <a:srgbClr val="475569"/>
                </a:solidFill>
                <a:latin typeface="Inter"/>
              </a:rPr>
              <a:t>Step 1 (1.5h):</a:t>
            </a:r>
            <a:r>
              <a:rPr b="0" sz="1050" i="0" u="none">
                <a:solidFill>
                  <a:srgbClr val="475569"/>
                </a:solidFill>
                <a:latin typeface="Inter"/>
              </a:rPr>
              <a:t> Develop core DAX: `[Portfolio Value]`, `[Total Return $]`, `[ROI %]`.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410575" y="3993921"/>
            <a:ext cx="76200" cy="2095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475569"/>
                </a:solidFill>
                <a:latin typeface="Inter"/>
              </a:rPr>
              <a:t>•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486775" y="3992016"/>
            <a:ext cx="2952750" cy="426541"/>
          </a:xfrm>
          <a:prstGeom prst="rect">
            <a:avLst/>
          </a:prstGeom>
          <a:noFill/>
        </p:spPr>
        <p:txBody>
          <a:bodyPr wrap="square" lIns="76200" rIns="0" tIns="0" bIns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b="1" sz="1050" i="0" u="none">
                <a:solidFill>
                  <a:srgbClr val="475569"/>
                </a:solidFill>
                <a:latin typeface="Inter"/>
              </a:rPr>
              <a:t>Step 2 (1.5h):</a:t>
            </a:r>
            <a:r>
              <a:rPr b="0" sz="1050" i="0" u="none">
                <a:solidFill>
                  <a:srgbClr val="475569"/>
                </a:solidFill>
                <a:latin typeface="Inter"/>
              </a:rPr>
              <a:t> Author Time Intelligence: `[YTD Return]`, `[QTD]`, `[YoY Variance %]`.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410575" y="4458563"/>
            <a:ext cx="76200" cy="2095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475569"/>
                </a:solidFill>
                <a:latin typeface="Inter"/>
              </a:rPr>
              <a:t>•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486775" y="4456658"/>
            <a:ext cx="2952750" cy="426541"/>
          </a:xfrm>
          <a:prstGeom prst="rect">
            <a:avLst/>
          </a:prstGeom>
          <a:noFill/>
        </p:spPr>
        <p:txBody>
          <a:bodyPr wrap="square" lIns="76200" rIns="0" tIns="0" bIns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b="1" sz="1050" i="0" u="none">
                <a:solidFill>
                  <a:srgbClr val="475569"/>
                </a:solidFill>
                <a:latin typeface="Inter"/>
              </a:rPr>
              <a:t>Step 3 (1.0h):</a:t>
            </a:r>
            <a:r>
              <a:rPr b="0" sz="1050" i="0" u="none">
                <a:solidFill>
                  <a:srgbClr val="475569"/>
                </a:solidFill>
                <a:latin typeface="Inter"/>
              </a:rPr>
              <a:t> Implement risk metric DAX logic: `[Sharpe Ratio]` &amp; `[Volatility]`.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2632025"/>
            <a:ext cx="3505200" cy="2489299"/>
          </a:xfrm>
          <a:prstGeom prst="roundRect">
            <a:avLst>
              <a:gd name="adj" fmla="val 4591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343400" y="2632025"/>
            <a:ext cx="3505200" cy="2489299"/>
          </a:xfrm>
          <a:prstGeom prst="roundRect">
            <a:avLst>
              <a:gd name="adj" fmla="val 4591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077200" y="2632025"/>
            <a:ext cx="3505200" cy="2489299"/>
          </a:xfrm>
          <a:prstGeom prst="roundRect">
            <a:avLst>
              <a:gd name="adj" fmla="val 4591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09600" y="5111799"/>
            <a:ext cx="35052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09600" y="2632025"/>
            <a:ext cx="3505200" cy="38100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09600" y="2632025"/>
            <a:ext cx="9525" cy="2489299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105275" y="2632025"/>
            <a:ext cx="9525" cy="2489299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343400" y="5111799"/>
            <a:ext cx="35052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43400" y="2632025"/>
            <a:ext cx="3505200" cy="38100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43400" y="2632025"/>
            <a:ext cx="9525" cy="2489299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839075" y="2632025"/>
            <a:ext cx="9525" cy="2489299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077200" y="5111799"/>
            <a:ext cx="35052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077200" y="2632025"/>
            <a:ext cx="3505200" cy="3810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77200" y="2632025"/>
            <a:ext cx="9525" cy="2489299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1572875" y="2632025"/>
            <a:ext cx="9525" cy="2489299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2971800" y="2898725"/>
            <a:ext cx="904875" cy="200025"/>
          </a:xfrm>
          <a:prstGeom prst="roundRect">
            <a:avLst>
              <a:gd name="adj" fmla="val 50000"/>
            </a:avLst>
          </a:prstGeom>
          <a:solidFill>
            <a:srgbClr val="E0F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705600" y="2898725"/>
            <a:ext cx="904875" cy="200025"/>
          </a:xfrm>
          <a:prstGeom prst="roundRect">
            <a:avLst>
              <a:gd name="adj" fmla="val 50000"/>
            </a:avLst>
          </a:prstGeom>
          <a:solidFill>
            <a:srgbClr val="D1FA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10439400" y="2898725"/>
            <a:ext cx="904875" cy="200025"/>
          </a:xfrm>
          <a:prstGeom prst="roundRect">
            <a:avLst>
              <a:gd name="adj" fmla="val 50000"/>
            </a:avLst>
          </a:prstGeom>
          <a:solidFill>
            <a:srgbClr val="FEF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2563EB"/>
                </a:solidFill>
                <a:latin typeface="Plus Jakarta Sans"/>
              </a:rPr>
              <a:t>DAY 4 PARALLEL TASKS • BENCHMARK ANALYSIS &amp; DASHBOARD BUILD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09600" y="704850"/>
            <a:ext cx="11582400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Plus Jakarta Sans"/>
              </a:rPr>
              <a:t>Day 4: Granular Task Steps &amp; Hourly Allocation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7725" y="3194000"/>
            <a:ext cx="3975496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S&amp;P 500 Benchmark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81525" y="3194000"/>
            <a:ext cx="3975496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SQL Analytical Views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15325" y="3194000"/>
            <a:ext cx="3876675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4-Page Visual Build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7725" y="2922537"/>
            <a:ext cx="1643062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0284C7"/>
                </a:solidFill>
                <a:latin typeface="Inter"/>
              </a:rPr>
              <a:t>PERSON 1 • DATA ENG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067050" y="2927300"/>
            <a:ext cx="809625" cy="142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0369A1"/>
                </a:solidFill>
                <a:latin typeface="Inter"/>
              </a:rPr>
              <a:t>⏱️ 3.5 Hours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42975" y="3529280"/>
            <a:ext cx="76200" cy="2095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475569"/>
                </a:solidFill>
                <a:latin typeface="Inter"/>
              </a:rPr>
              <a:t>•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19175" y="3527375"/>
            <a:ext cx="2952750" cy="426541"/>
          </a:xfrm>
          <a:prstGeom prst="rect">
            <a:avLst/>
          </a:prstGeom>
          <a:noFill/>
        </p:spPr>
        <p:txBody>
          <a:bodyPr wrap="square" lIns="76200" rIns="0" tIns="0" bIns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b="1" sz="1050" i="0" u="none">
                <a:solidFill>
                  <a:srgbClr val="475569"/>
                </a:solidFill>
                <a:latin typeface="Inter"/>
              </a:rPr>
              <a:t>Step 1 (1.0h):</a:t>
            </a:r>
            <a:r>
              <a:rPr b="0" sz="1050" i="0" u="none">
                <a:solidFill>
                  <a:srgbClr val="475569"/>
                </a:solidFill>
                <a:latin typeface="Inter"/>
              </a:rPr>
              <a:t> Ingest benchmark SPY index dataset for comparative performance.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42975" y="3993921"/>
            <a:ext cx="76200" cy="2095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475569"/>
                </a:solidFill>
                <a:latin typeface="Inter"/>
              </a:rPr>
              <a:t>•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19175" y="3992016"/>
            <a:ext cx="2952750" cy="426541"/>
          </a:xfrm>
          <a:prstGeom prst="rect">
            <a:avLst/>
          </a:prstGeom>
          <a:noFill/>
        </p:spPr>
        <p:txBody>
          <a:bodyPr wrap="square" lIns="76200" rIns="0" tIns="0" bIns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b="1" sz="1050" i="0" u="none">
                <a:solidFill>
                  <a:srgbClr val="475569"/>
                </a:solidFill>
                <a:latin typeface="Inter"/>
              </a:rPr>
              <a:t>Step 2 (1.5h):</a:t>
            </a:r>
            <a:r>
              <a:rPr b="0" sz="1050" i="0" u="none">
                <a:solidFill>
                  <a:srgbClr val="475569"/>
                </a:solidFill>
                <a:latin typeface="Inter"/>
              </a:rPr>
              <a:t> Calculate portfolio Alpha &amp; Beta regression metrics vs market.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42975" y="4458563"/>
            <a:ext cx="76200" cy="2095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475569"/>
                </a:solidFill>
                <a:latin typeface="Inter"/>
              </a:rPr>
              <a:t>•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19175" y="4456658"/>
            <a:ext cx="2952750" cy="426541"/>
          </a:xfrm>
          <a:prstGeom prst="rect">
            <a:avLst/>
          </a:prstGeom>
          <a:noFill/>
        </p:spPr>
        <p:txBody>
          <a:bodyPr wrap="square" lIns="76200" rIns="0" tIns="0" bIns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b="1" sz="1050" i="0" u="none">
                <a:solidFill>
                  <a:srgbClr val="475569"/>
                </a:solidFill>
                <a:latin typeface="Inter"/>
              </a:rPr>
              <a:t>Step 3 (1.0h):</a:t>
            </a:r>
            <a:r>
              <a:rPr b="0" sz="1050" i="0" u="none">
                <a:solidFill>
                  <a:srgbClr val="475569"/>
                </a:solidFill>
                <a:latin typeface="Inter"/>
              </a:rPr>
              <a:t> Perform sector allocation vs benchmark index variance analysis.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81525" y="2922537"/>
            <a:ext cx="1595437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059669"/>
                </a:solidFill>
                <a:latin typeface="Inter"/>
              </a:rPr>
              <a:t>PERSON 2 • DB ARCH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800850" y="2927300"/>
            <a:ext cx="809625" cy="142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047857"/>
                </a:solidFill>
                <a:latin typeface="Inter"/>
              </a:rPr>
              <a:t>⏱️ 3.5 Hours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676775" y="3529280"/>
            <a:ext cx="76200" cy="2095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475569"/>
                </a:solidFill>
                <a:latin typeface="Inter"/>
              </a:rPr>
              <a:t>•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752975" y="3527375"/>
            <a:ext cx="2952750" cy="426541"/>
          </a:xfrm>
          <a:prstGeom prst="rect">
            <a:avLst/>
          </a:prstGeom>
          <a:noFill/>
        </p:spPr>
        <p:txBody>
          <a:bodyPr wrap="square" lIns="76200" rIns="0" tIns="0" bIns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b="1" sz="1050" i="0" u="none">
                <a:solidFill>
                  <a:srgbClr val="475569"/>
                </a:solidFill>
                <a:latin typeface="Inter"/>
              </a:rPr>
              <a:t>Step 1 (1.5h):</a:t>
            </a:r>
            <a:r>
              <a:rPr b="0" sz="1050" i="0" u="none">
                <a:solidFill>
                  <a:srgbClr val="475569"/>
                </a:solidFill>
                <a:latin typeface="Inter"/>
              </a:rPr>
              <a:t> Create reusable SQL views (`vw_monthly_portfolio`, `vw_top_gainers`).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676775" y="3993921"/>
            <a:ext cx="76200" cy="2095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475569"/>
                </a:solidFill>
                <a:latin typeface="Inter"/>
              </a:rPr>
              <a:t>•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752975" y="3992016"/>
            <a:ext cx="2952750" cy="426541"/>
          </a:xfrm>
          <a:prstGeom prst="rect">
            <a:avLst/>
          </a:prstGeom>
          <a:noFill/>
        </p:spPr>
        <p:txBody>
          <a:bodyPr wrap="square" lIns="76200" rIns="0" tIns="0" bIns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b="1" sz="1050" i="0" u="none">
                <a:solidFill>
                  <a:srgbClr val="475569"/>
                </a:solidFill>
                <a:latin typeface="Inter"/>
              </a:rPr>
              <a:t>Step 2 (1.0h):</a:t>
            </a:r>
            <a:r>
              <a:rPr b="0" sz="1050" i="0" u="none">
                <a:solidFill>
                  <a:srgbClr val="475569"/>
                </a:solidFill>
                <a:latin typeface="Inter"/>
              </a:rPr>
              <a:t> Construct sector concentration aggregate tables for BI consumption.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676775" y="4458563"/>
            <a:ext cx="76200" cy="2095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475569"/>
                </a:solidFill>
                <a:latin typeface="Inter"/>
              </a:rPr>
              <a:t>•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752975" y="4456658"/>
            <a:ext cx="2952750" cy="426541"/>
          </a:xfrm>
          <a:prstGeom prst="rect">
            <a:avLst/>
          </a:prstGeom>
          <a:noFill/>
        </p:spPr>
        <p:txBody>
          <a:bodyPr wrap="square" lIns="76200" rIns="0" tIns="0" bIns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b="1" sz="1050" i="0" u="none">
                <a:solidFill>
                  <a:srgbClr val="475569"/>
                </a:solidFill>
                <a:latin typeface="Inter"/>
              </a:rPr>
              <a:t>Step 3 (1.0h):</a:t>
            </a:r>
            <a:r>
              <a:rPr b="0" sz="1050" i="0" u="none">
                <a:solidFill>
                  <a:srgbClr val="475569"/>
                </a:solidFill>
                <a:latin typeface="Inter"/>
              </a:rPr>
              <a:t> Build SQL stored procedures for automated high-volatility alerts.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315325" y="2922537"/>
            <a:ext cx="2083593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D97706"/>
                </a:solidFill>
                <a:latin typeface="Inter"/>
              </a:rPr>
              <a:t>PERSON 3 • POWER BI LEAD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534650" y="2927300"/>
            <a:ext cx="809625" cy="142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B45309"/>
                </a:solidFill>
                <a:latin typeface="Inter"/>
              </a:rPr>
              <a:t>⏱️ 5.0 Hours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410575" y="3529280"/>
            <a:ext cx="76200" cy="2095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475569"/>
                </a:solidFill>
                <a:latin typeface="Inter"/>
              </a:rPr>
              <a:t>•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486775" y="3527375"/>
            <a:ext cx="2952750" cy="426541"/>
          </a:xfrm>
          <a:prstGeom prst="rect">
            <a:avLst/>
          </a:prstGeom>
          <a:noFill/>
        </p:spPr>
        <p:txBody>
          <a:bodyPr wrap="square" lIns="76200" rIns="0" tIns="0" bIns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b="1" sz="1050" i="0" u="none">
                <a:solidFill>
                  <a:srgbClr val="475569"/>
                </a:solidFill>
                <a:latin typeface="Inter"/>
              </a:rPr>
              <a:t>Step 1 (2.0h):</a:t>
            </a:r>
            <a:r>
              <a:rPr b="0" sz="1050" i="0" u="none">
                <a:solidFill>
                  <a:srgbClr val="475569"/>
                </a:solidFill>
                <a:latin typeface="Inter"/>
              </a:rPr>
              <a:t> Construct Executive Overview &amp; Stock Detail drill-through pages.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410575" y="3993921"/>
            <a:ext cx="76200" cy="2095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475569"/>
                </a:solidFill>
                <a:latin typeface="Inter"/>
              </a:rPr>
              <a:t>•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486775" y="3992016"/>
            <a:ext cx="2952750" cy="426541"/>
          </a:xfrm>
          <a:prstGeom prst="rect">
            <a:avLst/>
          </a:prstGeom>
          <a:noFill/>
        </p:spPr>
        <p:txBody>
          <a:bodyPr wrap="square" lIns="76200" rIns="0" tIns="0" bIns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b="1" sz="1050" i="0" u="none">
                <a:solidFill>
                  <a:srgbClr val="475569"/>
                </a:solidFill>
                <a:latin typeface="Inter"/>
              </a:rPr>
              <a:t>Step 2 (1.5h):</a:t>
            </a:r>
            <a:r>
              <a:rPr b="0" sz="1050" i="0" u="none">
                <a:solidFill>
                  <a:srgbClr val="475569"/>
                </a:solidFill>
                <a:latin typeface="Inter"/>
              </a:rPr>
              <a:t> Build Risk vs. Return Scatter Plot, Treemap, &amp; Waterfall charts.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410575" y="4458563"/>
            <a:ext cx="76200" cy="2095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475569"/>
                </a:solidFill>
                <a:latin typeface="Inter"/>
              </a:rPr>
              <a:t>•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486775" y="4456658"/>
            <a:ext cx="2952750" cy="426541"/>
          </a:xfrm>
          <a:prstGeom prst="rect">
            <a:avLst/>
          </a:prstGeom>
          <a:noFill/>
        </p:spPr>
        <p:txBody>
          <a:bodyPr wrap="square" lIns="76200" rIns="0" tIns="0" bIns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b="1" sz="1050" i="0" u="none">
                <a:solidFill>
                  <a:srgbClr val="475569"/>
                </a:solidFill>
                <a:latin typeface="Inter"/>
              </a:rPr>
              <a:t>Step 3 (1.5h):</a:t>
            </a:r>
            <a:r>
              <a:rPr b="0" sz="1050" i="0" u="none">
                <a:solidFill>
                  <a:srgbClr val="475569"/>
                </a:solidFill>
                <a:latin typeface="Inter"/>
              </a:rPr>
              <a:t> Configure dynamic slicers, page bookmarks, &amp; cross-filtering.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2632025"/>
            <a:ext cx="3505200" cy="2489299"/>
          </a:xfrm>
          <a:prstGeom prst="roundRect">
            <a:avLst>
              <a:gd name="adj" fmla="val 4591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343400" y="2632025"/>
            <a:ext cx="3505200" cy="2489299"/>
          </a:xfrm>
          <a:prstGeom prst="roundRect">
            <a:avLst>
              <a:gd name="adj" fmla="val 4591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077200" y="2632025"/>
            <a:ext cx="3505200" cy="2489299"/>
          </a:xfrm>
          <a:prstGeom prst="roundRect">
            <a:avLst>
              <a:gd name="adj" fmla="val 4591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09600" y="5111799"/>
            <a:ext cx="35052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09600" y="2632025"/>
            <a:ext cx="3505200" cy="38100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09600" y="2632025"/>
            <a:ext cx="9525" cy="2489299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105275" y="2632025"/>
            <a:ext cx="9525" cy="2489299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343400" y="5111799"/>
            <a:ext cx="35052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43400" y="2632025"/>
            <a:ext cx="3505200" cy="38100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43400" y="2632025"/>
            <a:ext cx="9525" cy="2489299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839075" y="2632025"/>
            <a:ext cx="9525" cy="2489299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077200" y="5111799"/>
            <a:ext cx="35052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077200" y="2632025"/>
            <a:ext cx="3505200" cy="3810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77200" y="2632025"/>
            <a:ext cx="9525" cy="2489299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1572875" y="2632025"/>
            <a:ext cx="9525" cy="2489299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2962275" y="2898725"/>
            <a:ext cx="914400" cy="200025"/>
          </a:xfrm>
          <a:prstGeom prst="roundRect">
            <a:avLst>
              <a:gd name="adj" fmla="val 50000"/>
            </a:avLst>
          </a:prstGeom>
          <a:solidFill>
            <a:srgbClr val="E0F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715125" y="2898725"/>
            <a:ext cx="895350" cy="200025"/>
          </a:xfrm>
          <a:prstGeom prst="roundRect">
            <a:avLst>
              <a:gd name="adj" fmla="val 50000"/>
            </a:avLst>
          </a:prstGeom>
          <a:solidFill>
            <a:srgbClr val="D1FA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10429875" y="2898725"/>
            <a:ext cx="914400" cy="200025"/>
          </a:xfrm>
          <a:prstGeom prst="roundRect">
            <a:avLst>
              <a:gd name="adj" fmla="val 50000"/>
            </a:avLst>
          </a:prstGeom>
          <a:solidFill>
            <a:srgbClr val="FEF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2563EB"/>
                </a:solidFill>
                <a:latin typeface="Plus Jakarta Sans"/>
              </a:rPr>
              <a:t>DAY 5 PARALLEL TASKS • REFACTORING, DOCS &amp; RELEASE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09600" y="704850"/>
            <a:ext cx="11582400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Plus Jakarta Sans"/>
              </a:rPr>
              <a:t>Day 5: Granular Task Steps &amp; Hourly Allocation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7725" y="3194000"/>
            <a:ext cx="3975496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Code Refactoring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81525" y="3194000"/>
            <a:ext cx="3975496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SQL Specs &amp; Benchmarks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15325" y="3194000"/>
            <a:ext cx="3876675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Executive Report &amp; Release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7725" y="2922537"/>
            <a:ext cx="1643062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0284C7"/>
                </a:solidFill>
                <a:latin typeface="Inter"/>
              </a:rPr>
              <a:t>PERSON 1 • DATA ENG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057525" y="2927300"/>
            <a:ext cx="819150" cy="142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0369A1"/>
                </a:solidFill>
                <a:latin typeface="Inter"/>
              </a:rPr>
              <a:t>⏱️ 3.0 Hours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42975" y="3529280"/>
            <a:ext cx="76200" cy="2095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475569"/>
                </a:solidFill>
                <a:latin typeface="Inter"/>
              </a:rPr>
              <a:t>•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19175" y="3527375"/>
            <a:ext cx="2952750" cy="426541"/>
          </a:xfrm>
          <a:prstGeom prst="rect">
            <a:avLst/>
          </a:prstGeom>
          <a:noFill/>
        </p:spPr>
        <p:txBody>
          <a:bodyPr wrap="square" lIns="76200" rIns="0" tIns="0" bIns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b="1" sz="1050" i="0" u="none">
                <a:solidFill>
                  <a:srgbClr val="475569"/>
                </a:solidFill>
                <a:latin typeface="Inter"/>
              </a:rPr>
              <a:t>Step 1 (1.0h):</a:t>
            </a:r>
            <a:r>
              <a:rPr b="0" sz="1050" i="0" u="none">
                <a:solidFill>
                  <a:srgbClr val="475569"/>
                </a:solidFill>
                <a:latin typeface="Inter"/>
              </a:rPr>
              <a:t> Modularize Python scripts into reusable functions and classes.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42975" y="3993921"/>
            <a:ext cx="76200" cy="2095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475569"/>
                </a:solidFill>
                <a:latin typeface="Inter"/>
              </a:rPr>
              <a:t>•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19175" y="3992016"/>
            <a:ext cx="2952750" cy="426541"/>
          </a:xfrm>
          <a:prstGeom prst="rect">
            <a:avLst/>
          </a:prstGeom>
          <a:noFill/>
        </p:spPr>
        <p:txBody>
          <a:bodyPr wrap="square" lIns="76200" rIns="0" tIns="0" bIns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b="1" sz="1050" i="0" u="none">
                <a:solidFill>
                  <a:srgbClr val="475569"/>
                </a:solidFill>
                <a:latin typeface="Inter"/>
              </a:rPr>
              <a:t>Step 2 (1.0h):</a:t>
            </a:r>
            <a:r>
              <a:rPr b="0" sz="1050" i="0" u="none">
                <a:solidFill>
                  <a:srgbClr val="475569"/>
                </a:solidFill>
                <a:latin typeface="Inter"/>
              </a:rPr>
              <a:t> Generate `requirements.txt` &amp; environment setup guide.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42975" y="4458563"/>
            <a:ext cx="76200" cy="2095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475569"/>
                </a:solidFill>
                <a:latin typeface="Inter"/>
              </a:rPr>
              <a:t>•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19175" y="4456658"/>
            <a:ext cx="2952750" cy="426541"/>
          </a:xfrm>
          <a:prstGeom prst="rect">
            <a:avLst/>
          </a:prstGeom>
          <a:noFill/>
        </p:spPr>
        <p:txBody>
          <a:bodyPr wrap="square" lIns="76200" rIns="0" tIns="0" bIns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b="1" sz="1050" i="0" u="none">
                <a:solidFill>
                  <a:srgbClr val="475569"/>
                </a:solidFill>
                <a:latin typeface="Inter"/>
              </a:rPr>
              <a:t>Step 3 (1.0h):</a:t>
            </a:r>
            <a:r>
              <a:rPr b="0" sz="1050" i="0" u="none">
                <a:solidFill>
                  <a:srgbClr val="475569"/>
                </a:solidFill>
                <a:latin typeface="Inter"/>
              </a:rPr>
              <a:t> Annotate Jupyter Notebooks with markdown plot commentary.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81525" y="2922537"/>
            <a:ext cx="1595437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059669"/>
                </a:solidFill>
                <a:latin typeface="Inter"/>
              </a:rPr>
              <a:t>PERSON 2 • DB ARCH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810375" y="2927300"/>
            <a:ext cx="800100" cy="142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047857"/>
                </a:solidFill>
                <a:latin typeface="Inter"/>
              </a:rPr>
              <a:t>⏱️ 2.5 Hours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676775" y="3529280"/>
            <a:ext cx="76200" cy="2095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475569"/>
                </a:solidFill>
                <a:latin typeface="Inter"/>
              </a:rPr>
              <a:t>•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752975" y="3527375"/>
            <a:ext cx="2952750" cy="426541"/>
          </a:xfrm>
          <a:prstGeom prst="rect">
            <a:avLst/>
          </a:prstGeom>
          <a:noFill/>
        </p:spPr>
        <p:txBody>
          <a:bodyPr wrap="square" lIns="76200" rIns="0" tIns="0" bIns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b="1" sz="1050" i="0" u="none">
                <a:solidFill>
                  <a:srgbClr val="475569"/>
                </a:solidFill>
                <a:latin typeface="Inter"/>
              </a:rPr>
              <a:t>Step 1 (1.0h):</a:t>
            </a:r>
            <a:r>
              <a:rPr b="0" sz="1050" i="0" u="none">
                <a:solidFill>
                  <a:srgbClr val="475569"/>
                </a:solidFill>
                <a:latin typeface="Inter"/>
              </a:rPr>
              <a:t> Export production `.sql` DDL, view definitions, and seed data.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676775" y="3993921"/>
            <a:ext cx="76200" cy="2095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475569"/>
                </a:solidFill>
                <a:latin typeface="Inter"/>
              </a:rPr>
              <a:t>•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752975" y="3992016"/>
            <a:ext cx="2952750" cy="426541"/>
          </a:xfrm>
          <a:prstGeom prst="rect">
            <a:avLst/>
          </a:prstGeom>
          <a:noFill/>
        </p:spPr>
        <p:txBody>
          <a:bodyPr wrap="square" lIns="76200" rIns="0" tIns="0" bIns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b="1" sz="1050" i="0" u="none">
                <a:solidFill>
                  <a:srgbClr val="475569"/>
                </a:solidFill>
                <a:latin typeface="Inter"/>
              </a:rPr>
              <a:t>Step 2 (0.5h):</a:t>
            </a:r>
            <a:r>
              <a:rPr b="0" sz="1050" i="0" u="none">
                <a:solidFill>
                  <a:srgbClr val="475569"/>
                </a:solidFill>
                <a:latin typeface="Inter"/>
              </a:rPr>
              <a:t> Record `EXPLAIN ANALYZE` query execution speed benchmarks.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676775" y="4458563"/>
            <a:ext cx="76200" cy="2095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475569"/>
                </a:solidFill>
                <a:latin typeface="Inter"/>
              </a:rPr>
              <a:t>•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752975" y="4456658"/>
            <a:ext cx="2952750" cy="426541"/>
          </a:xfrm>
          <a:prstGeom prst="rect">
            <a:avLst/>
          </a:prstGeom>
          <a:noFill/>
        </p:spPr>
        <p:txBody>
          <a:bodyPr wrap="square" lIns="76200" rIns="0" tIns="0" bIns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b="1" sz="1050" i="0" u="none">
                <a:solidFill>
                  <a:srgbClr val="475569"/>
                </a:solidFill>
                <a:latin typeface="Inter"/>
              </a:rPr>
              <a:t>Step 3 (1.0h):</a:t>
            </a:r>
            <a:r>
              <a:rPr b="0" sz="1050" i="0" u="none">
                <a:solidFill>
                  <a:srgbClr val="475569"/>
                </a:solidFill>
                <a:latin typeface="Inter"/>
              </a:rPr>
              <a:t> Publish database schema &amp; data dictionary specifications.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315325" y="2922537"/>
            <a:ext cx="2083593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D97706"/>
                </a:solidFill>
                <a:latin typeface="Inter"/>
              </a:rPr>
              <a:t>PERSON 3 • POWER BI LEAD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525125" y="2927300"/>
            <a:ext cx="819150" cy="142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B45309"/>
                </a:solidFill>
                <a:latin typeface="Inter"/>
              </a:rPr>
              <a:t>⏱️ 4.0 Hours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410575" y="3529280"/>
            <a:ext cx="76200" cy="2095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475569"/>
                </a:solidFill>
                <a:latin typeface="Inter"/>
              </a:rPr>
              <a:t>•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486775" y="3527375"/>
            <a:ext cx="2952750" cy="426541"/>
          </a:xfrm>
          <a:prstGeom prst="rect">
            <a:avLst/>
          </a:prstGeom>
          <a:noFill/>
        </p:spPr>
        <p:txBody>
          <a:bodyPr wrap="square" lIns="76200" rIns="0" tIns="0" bIns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b="1" sz="1050" i="0" u="none">
                <a:solidFill>
                  <a:srgbClr val="475569"/>
                </a:solidFill>
                <a:latin typeface="Inter"/>
              </a:rPr>
              <a:t>Step 1 (1.5h):</a:t>
            </a:r>
            <a:r>
              <a:rPr b="0" sz="1050" i="0" u="none">
                <a:solidFill>
                  <a:srgbClr val="475569"/>
                </a:solidFill>
                <a:latin typeface="Inter"/>
              </a:rPr>
              <a:t> Author Executive Strategy PDF with rebalancing recommendations.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410575" y="3993921"/>
            <a:ext cx="76200" cy="2095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475569"/>
                </a:solidFill>
                <a:latin typeface="Inter"/>
              </a:rPr>
              <a:t>•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486775" y="3992016"/>
            <a:ext cx="2952750" cy="426541"/>
          </a:xfrm>
          <a:prstGeom prst="rect">
            <a:avLst/>
          </a:prstGeom>
          <a:noFill/>
        </p:spPr>
        <p:txBody>
          <a:bodyPr wrap="square" lIns="76200" rIns="0" tIns="0" bIns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b="1" sz="1050" i="0" u="none">
                <a:solidFill>
                  <a:srgbClr val="475569"/>
                </a:solidFill>
                <a:latin typeface="Inter"/>
              </a:rPr>
              <a:t>Step 2 (1.0h):</a:t>
            </a:r>
            <a:r>
              <a:rPr b="0" sz="1050" i="0" u="none">
                <a:solidFill>
                  <a:srgbClr val="475569"/>
                </a:solidFill>
                <a:latin typeface="Inter"/>
              </a:rPr>
              <a:t> Capture dashboard screenshots, demo GIFs, and PDF exports.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410575" y="4458563"/>
            <a:ext cx="76200" cy="2095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475569"/>
                </a:solidFill>
                <a:latin typeface="Inter"/>
              </a:rPr>
              <a:t>•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486775" y="4456658"/>
            <a:ext cx="2952750" cy="426541"/>
          </a:xfrm>
          <a:prstGeom prst="rect">
            <a:avLst/>
          </a:prstGeom>
          <a:noFill/>
        </p:spPr>
        <p:txBody>
          <a:bodyPr wrap="square" lIns="76200" rIns="0" tIns="0" bIns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b="1" sz="1050" i="0" u="none">
                <a:solidFill>
                  <a:srgbClr val="475569"/>
                </a:solidFill>
                <a:latin typeface="Inter"/>
              </a:rPr>
              <a:t>Step 3 (1.5h):</a:t>
            </a:r>
            <a:r>
              <a:rPr b="0" sz="1050" i="0" u="none">
                <a:solidFill>
                  <a:srgbClr val="475569"/>
                </a:solidFill>
                <a:latin typeface="Inter"/>
              </a:rPr>
              <a:t> Assemble main team GitHub `README.md` &amp; launch public repo.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2409825"/>
            <a:ext cx="5362575" cy="638175"/>
          </a:xfrm>
          <a:prstGeom prst="roundRect">
            <a:avLst>
              <a:gd name="adj" fmla="val 11940"/>
            </a:avLst>
          </a:prstGeom>
          <a:solidFill>
            <a:srgbClr val="F0F9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09600" y="3162300"/>
            <a:ext cx="5362575" cy="638175"/>
          </a:xfrm>
          <a:prstGeom prst="roundRect">
            <a:avLst>
              <a:gd name="adj" fmla="val 11940"/>
            </a:avLst>
          </a:prstGeom>
          <a:solidFill>
            <a:srgbClr val="F0F9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09600" y="3914775"/>
            <a:ext cx="5362575" cy="638175"/>
          </a:xfrm>
          <a:prstGeom prst="roundRect">
            <a:avLst>
              <a:gd name="adj" fmla="val 11940"/>
            </a:avLst>
          </a:prstGeom>
          <a:solidFill>
            <a:srgbClr val="F0F9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09600" y="4667250"/>
            <a:ext cx="5362575" cy="638175"/>
          </a:xfrm>
          <a:prstGeom prst="roundRect">
            <a:avLst>
              <a:gd name="adj" fmla="val 11940"/>
            </a:avLst>
          </a:prstGeom>
          <a:solidFill>
            <a:srgbClr val="F0F9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09600" y="2409825"/>
            <a:ext cx="38100" cy="638175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09600" y="3162300"/>
            <a:ext cx="38100" cy="638175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09600" y="3914775"/>
            <a:ext cx="38100" cy="638175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09600" y="4667250"/>
            <a:ext cx="38100" cy="638175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00775" y="2143125"/>
            <a:ext cx="5381625" cy="342900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0300" y="2152650"/>
            <a:ext cx="5362575" cy="340995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284C7"/>
                </a:solidFill>
                <a:latin typeface="Plus Jakarta Sans"/>
              </a:rPr>
              <a:t>ROLE DEEP DIVE • PERSON 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9600" y="704850"/>
            <a:ext cx="11582400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Plus Jakarta Sans"/>
              </a:rPr>
              <a:t>Person 1: Python &amp; Data Engineering (Total 18.5 Hours)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0100" y="2762250"/>
            <a:ext cx="6274593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334155"/>
                </a:solidFill>
                <a:latin typeface="Inter"/>
              </a:rPr>
              <a:t>Configure yfinance API scripts, fetch 5 yrs of daily OHLCV, write raw CSVs.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0100" y="3514725"/>
            <a:ext cx="6274593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334155"/>
                </a:solidFill>
                <a:latin typeface="Inter"/>
              </a:rPr>
              <a:t>Forward-fill holiday gaps, z-score split auditing, export to `/data/processed/`.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0100" y="4267200"/>
            <a:ext cx="6274593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334155"/>
                </a:solidFill>
                <a:latin typeface="Inter"/>
              </a:rPr>
              <a:t>Log returns, 30-day rolling std dev, asset correlation, max drawdown logic.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0100" y="5019675"/>
            <a:ext cx="6274593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334155"/>
                </a:solidFill>
                <a:latin typeface="Inter"/>
              </a:rPr>
              <a:t>SPY Alpha/Beta regression, modularize functions, document Jupyter Notebooks.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0100" y="2543175"/>
            <a:ext cx="2750343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0F172A"/>
                </a:solidFill>
                <a:latin typeface="Plus Jakarta Sans"/>
              </a:rPr>
              <a:t>Day 1: yfinance Pipeline (3.5h)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05325" y="2562225"/>
            <a:ext cx="1643062" cy="1428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0284C7"/>
                </a:solidFill>
                <a:latin typeface="Inter"/>
              </a:rPr>
              <a:t>API Config &amp; Data Fetch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0100" y="3295650"/>
            <a:ext cx="2812851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0F172A"/>
                </a:solidFill>
                <a:latin typeface="Plus Jakarta Sans"/>
              </a:rPr>
              <a:t>Day 2: Cleaning &amp; Audit (4.0h)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962525" y="3314700"/>
            <a:ext cx="1143000" cy="1428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0284C7"/>
                </a:solidFill>
                <a:latin typeface="Inter"/>
              </a:rPr>
              <a:t>Data Wrangling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0100" y="4048125"/>
            <a:ext cx="2550318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0F172A"/>
                </a:solidFill>
                <a:latin typeface="Plus Jakarta Sans"/>
              </a:rPr>
              <a:t>Day 3: Volatility Math (4.5h)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0" y="4067175"/>
            <a:ext cx="1076325" cy="1428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0284C7"/>
                </a:solidFill>
                <a:latin typeface="Inter"/>
              </a:rPr>
              <a:t>Financial Math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0100" y="4800600"/>
            <a:ext cx="4275534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0F172A"/>
                </a:solidFill>
                <a:latin typeface="Plus Jakarta Sans"/>
              </a:rPr>
              <a:t>Days 4 &amp; 5: Benchmark &amp; Code Cleanup (6.5h)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14850" y="4819650"/>
            <a:ext cx="1631156" cy="1428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0284C7"/>
                </a:solidFill>
                <a:latin typeface="Inter"/>
              </a:rPr>
              <a:t>SPY Alpha &amp; Notebooks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2809875"/>
            <a:ext cx="5372100" cy="2095500"/>
          </a:xfrm>
          <a:prstGeom prst="roundRect">
            <a:avLst>
              <a:gd name="adj" fmla="val 5454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210300" y="3026271"/>
            <a:ext cx="5372100" cy="1662707"/>
          </a:xfrm>
          <a:prstGeom prst="roundRect">
            <a:avLst>
              <a:gd name="adj" fmla="val 6874"/>
            </a:avLst>
          </a:prstGeom>
          <a:solidFill>
            <a:srgbClr val="F0FDF4"/>
          </a:solidFill>
          <a:ln w="9525">
            <a:solidFill>
              <a:srgbClr val="BBF7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59669"/>
                </a:solidFill>
                <a:latin typeface="Plus Jakarta Sans"/>
              </a:rPr>
              <a:t>ROLE PROGRESSION • PERSON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704850"/>
            <a:ext cx="11582400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Plus Jakarta Sans"/>
              </a:rPr>
              <a:t>Person 2: SQL &amp; Database Architecture Focus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7725" y="3048000"/>
            <a:ext cx="6425803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5-Day Key Deliverables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48425" y="3264396"/>
            <a:ext cx="5743575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47857"/>
                </a:solidFill>
                <a:latin typeface="Plus Jakarta Sans"/>
              </a:rPr>
              <a:t>Core Relational Schema Structure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48425" y="3597771"/>
            <a:ext cx="4991100" cy="85308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b="0" sz="1050" i="0" u="none">
                <a:solidFill>
                  <a:srgbClr val="166534"/>
                </a:solidFill>
                <a:latin typeface="monospace"/>
              </a:rPr>
              <a:t>• Stock_Prices (Date PK, Ticker FK, OHLCV)</a:t>
            </a:r>
            <a:r>
              <a:t>
</a:t>
            </a:r>
            <a:r>
              <a:rPr b="0" sz="1050" i="0" u="none">
                <a:solidFill>
                  <a:srgbClr val="166534"/>
                </a:solidFill>
                <a:latin typeface="monospace"/>
              </a:rPr>
              <a:t> • Company_Master (Ticker PK, Name, Sector)</a:t>
            </a:r>
            <a:r>
              <a:t>
</a:t>
            </a:r>
            <a:r>
              <a:rPr b="0" sz="1050" i="0" u="none">
                <a:solidFill>
                  <a:srgbClr val="166534"/>
                </a:solidFill>
                <a:latin typeface="monospace"/>
              </a:rPr>
              <a:t> • Portfolio_Holdings (Holding_ID PK, Shares, Purchase_Price)</a:t>
            </a:r>
            <a:r>
              <a:t>
</a:t>
            </a:r>
            <a:r>
              <a:rPr b="0" sz="1050" i="0" u="none">
                <a:solidFill>
                  <a:srgbClr val="166534"/>
                </a:solidFill>
                <a:latin typeface="monospace"/>
              </a:rPr>
              <a:t> • Market_Index (Date PK, SPY_Close)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2025" y="3381375"/>
            <a:ext cx="76200" cy="2571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475569"/>
                </a:solidFill>
                <a:latin typeface="Inter"/>
              </a:rPr>
              <a:t>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8225" y="3381375"/>
            <a:ext cx="5881687" cy="257175"/>
          </a:xfrm>
          <a:prstGeom prst="rect">
            <a:avLst/>
          </a:prstGeom>
          <a:noFill/>
        </p:spPr>
        <p:txBody>
          <a:bodyPr wrap="none" lIns="76200" rIns="0" t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1" sz="1125" i="0" u="none">
                <a:solidFill>
                  <a:srgbClr val="475569"/>
                </a:solidFill>
                <a:latin typeface="Inter"/>
              </a:rPr>
              <a:t>Day 1:</a:t>
            </a:r>
            <a:r>
              <a:rPr b="0" sz="1125" i="0" u="none">
                <a:solidFill>
                  <a:srgbClr val="475569"/>
                </a:solidFill>
                <a:latin typeface="Inter"/>
              </a:rPr>
              <a:t> Normalized Relational Schema &amp; ERD Diagram.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2025" y="3638550"/>
            <a:ext cx="76200" cy="2571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475569"/>
                </a:solidFill>
                <a:latin typeface="Inter"/>
              </a:rPr>
              <a:t>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8225" y="3638550"/>
            <a:ext cx="5881687" cy="257175"/>
          </a:xfrm>
          <a:prstGeom prst="rect">
            <a:avLst/>
          </a:prstGeom>
          <a:noFill/>
        </p:spPr>
        <p:txBody>
          <a:bodyPr wrap="none" lIns="76200" rIns="0" t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1" sz="1125" i="0" u="none">
                <a:solidFill>
                  <a:srgbClr val="475569"/>
                </a:solidFill>
                <a:latin typeface="Inter"/>
              </a:rPr>
              <a:t>Day 2:</a:t>
            </a:r>
            <a:r>
              <a:rPr b="0" sz="1125" i="0" u="none">
                <a:solidFill>
                  <a:srgbClr val="475569"/>
                </a:solidFill>
                <a:latin typeface="Inter"/>
              </a:rPr>
              <a:t> DDL Execution &amp; Bulk Staging Table Ingestion.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2025" y="3895725"/>
            <a:ext cx="76200" cy="2571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475569"/>
                </a:solidFill>
                <a:latin typeface="Inter"/>
              </a:rPr>
              <a:t>•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38225" y="3895725"/>
            <a:ext cx="5881687" cy="257175"/>
          </a:xfrm>
          <a:prstGeom prst="rect">
            <a:avLst/>
          </a:prstGeom>
          <a:noFill/>
        </p:spPr>
        <p:txBody>
          <a:bodyPr wrap="none" lIns="76200" rIns="0" t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1" sz="1125" i="0" u="none">
                <a:solidFill>
                  <a:srgbClr val="475569"/>
                </a:solidFill>
                <a:latin typeface="Inter"/>
              </a:rPr>
              <a:t>Day 3:</a:t>
            </a:r>
            <a:r>
              <a:rPr b="0" sz="1125" i="0" u="none">
                <a:solidFill>
                  <a:srgbClr val="475569"/>
                </a:solidFill>
                <a:latin typeface="Inter"/>
              </a:rPr>
              <a:t> Window Functions for Moving Averages &amp; Ranking.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2025" y="4152900"/>
            <a:ext cx="76200" cy="2571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475569"/>
                </a:solidFill>
                <a:latin typeface="Inter"/>
              </a:rPr>
              <a:t>•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38225" y="4152900"/>
            <a:ext cx="5881687" cy="257175"/>
          </a:xfrm>
          <a:prstGeom prst="rect">
            <a:avLst/>
          </a:prstGeom>
          <a:noFill/>
        </p:spPr>
        <p:txBody>
          <a:bodyPr wrap="none" lIns="76200" rIns="0" t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1" sz="1125" i="0" u="none">
                <a:solidFill>
                  <a:srgbClr val="475569"/>
                </a:solidFill>
                <a:latin typeface="Inter"/>
              </a:rPr>
              <a:t>Day 4:</a:t>
            </a:r>
            <a:r>
              <a:rPr b="0" sz="1125" i="0" u="none">
                <a:solidFill>
                  <a:srgbClr val="475569"/>
                </a:solidFill>
                <a:latin typeface="Inter"/>
              </a:rPr>
              <a:t> Analytical SQL Views for Power BI Direct Integration.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2025" y="4410075"/>
            <a:ext cx="76200" cy="2571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475569"/>
                </a:solidFill>
                <a:latin typeface="Inter"/>
              </a:rPr>
              <a:t>•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38225" y="4410075"/>
            <a:ext cx="5881687" cy="257175"/>
          </a:xfrm>
          <a:prstGeom prst="rect">
            <a:avLst/>
          </a:prstGeom>
          <a:noFill/>
        </p:spPr>
        <p:txBody>
          <a:bodyPr wrap="none" lIns="76200" rIns="0" t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1" sz="1125" i="0" u="none">
                <a:solidFill>
                  <a:srgbClr val="475569"/>
                </a:solidFill>
                <a:latin typeface="Inter"/>
              </a:rPr>
              <a:t>Day 5:</a:t>
            </a:r>
            <a:r>
              <a:rPr b="0" sz="1125" i="0" u="none">
                <a:solidFill>
                  <a:srgbClr val="475569"/>
                </a:solidFill>
                <a:latin typeface="Inter"/>
              </a:rPr>
              <a:t> Query Execution Benchmarks &amp; SQL Documentation.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219825" y="2743200"/>
            <a:ext cx="5362575" cy="666750"/>
          </a:xfrm>
          <a:prstGeom prst="roundRect">
            <a:avLst>
              <a:gd name="adj" fmla="val 11428"/>
            </a:avLst>
          </a:prstGeom>
          <a:solidFill>
            <a:srgbClr val="FFFB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219825" y="3524250"/>
            <a:ext cx="5362575" cy="666750"/>
          </a:xfrm>
          <a:prstGeom prst="roundRect">
            <a:avLst>
              <a:gd name="adj" fmla="val 11428"/>
            </a:avLst>
          </a:prstGeom>
          <a:solidFill>
            <a:srgbClr val="FFFB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219825" y="4305300"/>
            <a:ext cx="5362575" cy="666750"/>
          </a:xfrm>
          <a:prstGeom prst="roundRect">
            <a:avLst>
              <a:gd name="adj" fmla="val 11428"/>
            </a:avLst>
          </a:prstGeom>
          <a:solidFill>
            <a:srgbClr val="FFFB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219825" y="2743200"/>
            <a:ext cx="38100" cy="66675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219825" y="3524250"/>
            <a:ext cx="38100" cy="66675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219825" y="4305300"/>
            <a:ext cx="38100" cy="66675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2143125"/>
            <a:ext cx="5381625" cy="34290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125" y="2152650"/>
            <a:ext cx="5362575" cy="340995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D97706"/>
                </a:solidFill>
                <a:latin typeface="Plus Jakarta Sans"/>
              </a:rPr>
              <a:t>ROLE PROGRESSION • PERSON 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9600" y="704850"/>
            <a:ext cx="11582400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Plus Jakarta Sans"/>
              </a:rPr>
              <a:t>Person 3: Power BI &amp; Business Strategy Focus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10325" y="2895600"/>
            <a:ext cx="5781675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0F172A"/>
                </a:solidFill>
                <a:latin typeface="Plus Jakarta Sans"/>
              </a:rPr>
              <a:t>Day 1 &amp; 2: UI Wireframing &amp; Data Model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10325" y="3095625"/>
            <a:ext cx="5781675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334155"/>
                </a:solidFill>
                <a:latin typeface="Inter"/>
              </a:rPr>
              <a:t>Designing dashboard layouts and connecting Star Schema tables.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10325" y="3676650"/>
            <a:ext cx="5781675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0F172A"/>
                </a:solidFill>
                <a:latin typeface="Plus Jakarta Sans"/>
              </a:rPr>
              <a:t>Day 3: Advanced DAX Measure Creation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10325" y="3876675"/>
            <a:ext cx="5781675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334155"/>
                </a:solidFill>
                <a:latin typeface="Inter"/>
              </a:rPr>
              <a:t>Writing DAX logic for total P&amp;L, Sharpe Ratio, and CAGR metrics.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10325" y="4457700"/>
            <a:ext cx="5781675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0F172A"/>
                </a:solidFill>
                <a:latin typeface="Plus Jakarta Sans"/>
              </a:rPr>
              <a:t>Day 4 &amp; 5: 4-Page Dashboard &amp; Report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10325" y="4657725"/>
            <a:ext cx="5781675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334155"/>
                </a:solidFill>
                <a:latin typeface="Inter"/>
              </a:rPr>
              <a:t>Finalizing interactive UI, writing strategy notes, and assembling GitHub repo.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1390650"/>
            <a:ext cx="10972800" cy="5010150"/>
          </a:xfrm>
          <a:prstGeom prst="roundRect">
            <a:avLst>
              <a:gd name="adj" fmla="val 2281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2563EB"/>
                </a:solidFill>
                <a:latin typeface="Plus Jakarta Sans"/>
              </a:rPr>
              <a:t>COLLABORATIVE TEAM DELIVERABLE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704850"/>
            <a:ext cx="11582400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Plus Jakarta Sans"/>
              </a:rPr>
              <a:t>Team GitHub Repository Structure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086100"/>
            <a:ext cx="11277600" cy="2571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0" sz="1125" i="0" u="none">
                <a:solidFill>
                  <a:srgbClr val="38BDF8"/>
                </a:solidFill>
                <a:latin typeface="monospace"/>
              </a:rPr>
              <a:t>Stock-Portfolio-3Person-Analysis/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3419475"/>
            <a:ext cx="11049000" cy="2571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0" sz="1125" i="0" u="none">
                <a:solidFill>
                  <a:srgbClr val="94A3B8"/>
                </a:solidFill>
                <a:latin typeface="monospace"/>
              </a:rPr>
              <a:t>├── Python_Data_Engineering/ </a:t>
            </a:r>
            <a:r>
              <a:rPr b="0" sz="1125" i="0" u="none">
                <a:solidFill>
                  <a:srgbClr val="38BDF8"/>
                </a:solidFill>
                <a:latin typeface="monospace"/>
              </a:rPr>
              <a:t>(Person 1: API Collection, Cleaning &amp; Volatility Math)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3676650"/>
            <a:ext cx="11049000" cy="2571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0" sz="1125" i="0" u="none">
                <a:solidFill>
                  <a:srgbClr val="94A3B8"/>
                </a:solidFill>
                <a:latin typeface="monospace"/>
              </a:rPr>
              <a:t>├── SQL_Database_Arch/ </a:t>
            </a:r>
            <a:r>
              <a:rPr b="0" sz="1125" i="0" u="none">
                <a:solidFill>
                  <a:srgbClr val="34D399"/>
                </a:solidFill>
                <a:latin typeface="monospace"/>
              </a:rPr>
              <a:t>(Person 2: Schema DDL, Analytical Views &amp; Window Functions)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3933825"/>
            <a:ext cx="11049000" cy="2571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0" sz="1125" i="0" u="none">
                <a:solidFill>
                  <a:srgbClr val="94A3B8"/>
                </a:solidFill>
                <a:latin typeface="monospace"/>
              </a:rPr>
              <a:t>├── PowerBI_Dashboards/ </a:t>
            </a:r>
            <a:r>
              <a:rPr b="0" sz="1125" i="0" u="none">
                <a:solidFill>
                  <a:srgbClr val="FBBF24"/>
                </a:solidFill>
                <a:latin typeface="monospace"/>
              </a:rPr>
              <a:t>(Person 3: 4-Page Interactive PBIX File &amp; DAX Measures)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4191000"/>
            <a:ext cx="11049000" cy="2571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0" sz="1125" i="0" u="none">
                <a:solidFill>
                  <a:srgbClr val="94A3B8"/>
                </a:solidFill>
                <a:latin typeface="monospace"/>
              </a:rPr>
              <a:t>├── Reports_&amp;_Insights/ </a:t>
            </a:r>
            <a:r>
              <a:rPr b="0" sz="1125" i="0" u="none">
                <a:solidFill>
                  <a:srgbClr val="E2E8F0"/>
                </a:solidFill>
                <a:latin typeface="monospace"/>
              </a:rPr>
              <a:t>(Combined: Executive Strategy &amp; Rebalancing Recommendations)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4448175"/>
            <a:ext cx="11049000" cy="2571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0" sz="1125" i="0" u="none">
                <a:solidFill>
                  <a:srgbClr val="34D399"/>
                </a:solidFill>
                <a:latin typeface="monospace"/>
              </a:rPr>
              <a:t>└── README.md </a:t>
            </a:r>
            <a:r>
              <a:rPr b="0" sz="1125" i="0" u="none">
                <a:solidFill>
                  <a:srgbClr val="64748B"/>
                </a:solidFill>
                <a:latin typeface="monospace"/>
              </a:rPr>
              <a:t>(Project Overview, Daily Work Breakdown &amp; Dashboard Screenshots)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05325" y="2028825"/>
            <a:ext cx="3181350" cy="285750"/>
          </a:xfrm>
          <a:prstGeom prst="roundRect">
            <a:avLst>
              <a:gd name="adj" fmla="val 50000"/>
            </a:avLst>
          </a:prstGeom>
          <a:solidFill>
            <a:srgbClr val="0F2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2886075" y="4229100"/>
            <a:ext cx="6419850" cy="600075"/>
          </a:xfrm>
          <a:prstGeom prst="roundRect">
            <a:avLst>
              <a:gd name="adj" fmla="val 19047"/>
            </a:avLst>
          </a:prstGeom>
          <a:solidFill>
            <a:srgbClr val="1E293B"/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260056" y="2085975"/>
            <a:ext cx="3671887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1050" i="0" u="none">
                <a:solidFill>
                  <a:srgbClr val="10B981"/>
                </a:solidFill>
                <a:latin typeface="Plus Jakarta Sans"/>
              </a:rPr>
              <a:t>3-PERSON DAILY PARALLEL EXECUTION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50031" y="2505075"/>
            <a:ext cx="11691937" cy="581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3600" i="0" u="none">
                <a:solidFill>
                  <a:srgbClr val="F8FAFC"/>
                </a:solidFill>
                <a:latin typeface="Plus Jakarta Sans"/>
              </a:rPr>
              <a:t>Recruiter-Ready Collaborative Portfolio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52562" y="3276600"/>
            <a:ext cx="9286875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250"/>
              </a:lnSpc>
            </a:pPr>
            <a:r>
              <a:rPr b="0" sz="1500" i="0" u="none">
                <a:solidFill>
                  <a:srgbClr val="94A3B8"/>
                </a:solidFill>
                <a:latin typeface="Inter"/>
              </a:rPr>
              <a:t>Every day of the 5-day sprint, Person 1 (Python), Person 2 (SQL), and Person 3 (Power BI) work in parallel to deliver a fully integrated financial analysis system.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571750" y="4429125"/>
            <a:ext cx="7048500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350" i="0" u="none">
                <a:solidFill>
                  <a:srgbClr val="F1F5F9"/>
                </a:solidFill>
                <a:latin typeface="Inter"/>
              </a:rPr>
              <a:t>Production-Grade Code • Relational Database • Interactive Power BI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71500" y="847725"/>
            <a:ext cx="11049000" cy="8382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71500" y="1676400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71500" y="1676400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1023937"/>
            <a:ext cx="857250" cy="47625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1862137"/>
            <a:ext cx="857250" cy="47625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71500" y="571500"/>
            <a:ext cx="2175271" cy="2762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F8FAFC"/>
                </a:solidFill>
                <a:latin typeface="Inter"/>
              </a:rPr>
              <a:t>Image Sources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66875" y="990600"/>
            <a:ext cx="10048875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F8FAFC"/>
                </a:solidFill>
                <a:latin typeface="Inter"/>
              </a:rPr>
              <a:t>https://photos.peopleimages.com/picture/202309/2800098-computer-screen-laptop-and-trading-workspace-with-financial-dashboard-graph-and-chart-information-online.-stock-market-statistics-and-investment-finance-trade-with-fintech-and-data-analytics-fit_400_400.jpg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66875" y="1343025"/>
            <a:ext cx="2464593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F8FAFC"/>
                </a:solidFill>
                <a:latin typeface="Inter"/>
              </a:rPr>
              <a:t>Source: </a:t>
            </a:r>
            <a:r>
              <a:rPr b="0" sz="1200" i="0" u="none">
                <a:solidFill>
                  <a:srgbClr val="F8FAFC"/>
                </a:solidFill>
                <a:latin typeface="Inter"/>
              </a:rPr>
              <a:t>peopleimages.com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66875" y="1828800"/>
            <a:ext cx="10048875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F8FAFC"/>
                </a:solidFill>
                <a:latin typeface="Inter"/>
              </a:rPr>
              <a:t>https://img.magnific.com/premium-vector/dashboard-charts-infographic-web-page-data-graphic-ui-screen-cards-statistic-chart-diagrams-template-sales-analysis-financial-audit-investment-monitoring-infocharts-black-background_229548-40.jpg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66875" y="2181225"/>
            <a:ext cx="2488406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F8FAFC"/>
                </a:solidFill>
                <a:latin typeface="Inter"/>
              </a:rPr>
              <a:t>Source: </a:t>
            </a:r>
            <a:r>
              <a:rPr b="0" sz="1200" i="0" u="none">
                <a:solidFill>
                  <a:srgbClr val="F8FAFC"/>
                </a:solidFill>
                <a:latin typeface="Inter"/>
              </a:rPr>
              <a:t>www.magnific.com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